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194560"/>
            <a:ext cx="112471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400" b="1" i="0">
                <a:solidFill>
                  <a:srgbClr val="000000"/>
                </a:solidFill>
                <a:latin typeface="Calibri"/>
              </a:rPr>
              <a:t>ResolveIT AI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3154680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0" i="1">
                <a:solidFill>
                  <a:srgbClr val="777777"/>
                </a:solidFill>
                <a:latin typeface="Calibri"/>
              </a:rPr>
              <a:t>Smart Runbook Resolution Assistant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3749039"/>
            <a:ext cx="11247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800" b="0" i="0">
                <a:solidFill>
                  <a:srgbClr val="000000"/>
                </a:solidFill>
                <a:latin typeface="Calibri"/>
              </a:rPr>
              <a:t>RAG-powered IT Support · Multi-Mode Answer Generation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63727" y="4754880"/>
            <a:ext cx="14630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FastAPI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63927" y="4754880"/>
            <a:ext cx="14630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React + Vite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64127" y="4754880"/>
            <a:ext cx="14630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FAISS + BM25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364327" y="4754880"/>
            <a:ext cx="14630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BGE Reranker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964527" y="4754880"/>
            <a:ext cx="14630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Gemini 2.5 Flash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64727" y="4754880"/>
            <a:ext cx="14630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Supabase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164927" y="4754880"/>
            <a:ext cx="1463040" cy="36576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100" b="0">
                <a:solidFill>
                  <a:srgbClr val="000000"/>
                </a:solidFill>
                <a:latin typeface="Calibri"/>
              </a:rPr>
              <a:t>Firebase Auth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5577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0" i="1">
                <a:solidFill>
                  <a:srgbClr val="777777"/>
                </a:solidFill>
                <a:latin typeface="Calibri"/>
              </a:rPr>
              <a:t>Project Documentation Deck — 10 slides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000" i="1">
                <a:solidFill>
                  <a:srgbClr val="777777"/>
                </a:solidFill>
              </a:rPr>
              <a:t>ResolveIT AI · Slide 1 / 10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Problem Statement &amp; Motivation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2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Calibri"/>
              </a:rPr>
              <a:t>Internal IT teams maintain large runbook libraries scattered across PDFs, wikis, and shared drives.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1645920"/>
            <a:ext cx="55778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Pain Points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2057400"/>
            <a:ext cx="557784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Engineers waste minutes-to-hours during incidents searching for the right fix.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Keyword search returns documents, not answers.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Generic AI chatbots hallucinate and don't cite sources — unsafe for production actions.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Senior SREs and junior new-hires need very different answer styles.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Knowledge gaps go undetected until they cause an outage.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309360" y="164592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1" i="0">
                <a:solidFill>
                  <a:srgbClr val="000000"/>
                </a:solidFill>
                <a:latin typeface="Calibri"/>
              </a:rPr>
              <a:t>Goal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309360" y="2057400"/>
            <a:ext cx="5486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Citation-grounded resolutions tied to internal runbooks.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Mode-aware answers that adapt to user expertise.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Real-time streaming with verifiable sources.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Closed-loop feedback so admins can spot knowledge gaps.</a:t>
            </a:r>
          </a:p>
          <a:p>
            <a:pPr algn="l">
              <a:lnSpc>
                <a:spcPct val="115000"/>
              </a:lnSpc>
            </a:pPr>
            <a:r>
              <a:rPr sz="1400">
                <a:solidFill>
                  <a:srgbClr val="000000"/>
                </a:solidFill>
                <a:latin typeface="Calibri"/>
              </a:rPr>
              <a:t>•  Production-ready: auth, rate limits, cache, idempotent migrations.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Solution Overview &amp; Key Features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3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777777"/>
                </a:solidFill>
                <a:latin typeface="Calibri"/>
              </a:rPr>
              <a:t>A full-stack RAG platform that grounds Gemini answers in indexed runbooks across six response modes.</a:t>
            </a:r>
          </a:p>
        </p:txBody>
      </p:sp>
      <p:sp>
        <p:nvSpPr>
          <p:cNvPr id="6" name="Rectangle 5"/>
          <p:cNvSpPr/>
          <p:nvPr/>
        </p:nvSpPr>
        <p:spPr>
          <a:xfrm>
            <a:off x="457200" y="169164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/>
            <a:r>
              <a:rPr b="1" sz="1300">
                <a:solidFill>
                  <a:srgbClr val="000000"/>
                </a:solidFill>
              </a:rPr>
              <a:t>Hybrid Retrieval</a:t>
            </a:r>
          </a:p>
          <a:p>
            <a:r>
              <a:rPr sz="1100">
                <a:solidFill>
                  <a:srgbClr val="000000"/>
                </a:solidFill>
              </a:rPr>
              <a:t>FAISS dense + BM25 lexical, fused via Reciprocal Rank Fusion (k=60).</a:t>
            </a:r>
          </a:p>
        </p:txBody>
      </p:sp>
      <p:sp>
        <p:nvSpPr>
          <p:cNvPr id="7" name="Rectangle 6"/>
          <p:cNvSpPr/>
          <p:nvPr/>
        </p:nvSpPr>
        <p:spPr>
          <a:xfrm>
            <a:off x="457200" y="288036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/>
            <a:r>
              <a:rPr b="1" sz="1300">
                <a:solidFill>
                  <a:srgbClr val="000000"/>
                </a:solidFill>
              </a:rPr>
              <a:t>HyDE Expansion</a:t>
            </a:r>
          </a:p>
          <a:p>
            <a:r>
              <a:rPr sz="1100">
                <a:solidFill>
                  <a:srgbClr val="000000"/>
                </a:solidFill>
              </a:rPr>
              <a:t>Gemini writes a hypothetical passage to bridge query-vs-document vocabulary.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6908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/>
            <a:r>
              <a:rPr b="1" sz="1300">
                <a:solidFill>
                  <a:srgbClr val="000000"/>
                </a:solidFill>
              </a:rPr>
              <a:t>Cross-Encoder Re-rank</a:t>
            </a:r>
          </a:p>
          <a:p>
            <a:r>
              <a:rPr sz="1100">
                <a:solidFill>
                  <a:srgbClr val="000000"/>
                </a:solidFill>
              </a:rPr>
              <a:t>BGE-reranker-base scores (query, chunk) pairs; sigmoid → confidence ∈ [0,1].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525780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/>
            <a:r>
              <a:rPr b="1" sz="1300">
                <a:solidFill>
                  <a:srgbClr val="000000"/>
                </a:solidFill>
              </a:rPr>
              <a:t>Strict Gate Check</a:t>
            </a:r>
          </a:p>
          <a:p>
            <a:r>
              <a:rPr sz="1100">
                <a:solidFill>
                  <a:srgbClr val="000000"/>
                </a:solidFill>
              </a:rPr>
              <a:t>If no excerpt directly addresses the query, refuses with an escalation sentinel.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6263640" y="169164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/>
            <a:r>
              <a:rPr b="1" sz="1300">
                <a:solidFill>
                  <a:srgbClr val="000000"/>
                </a:solidFill>
              </a:rPr>
              <a:t>Six Response Modes</a:t>
            </a:r>
          </a:p>
          <a:p>
            <a:r>
              <a:rPr sz="1100">
                <a:solidFill>
                  <a:srgbClr val="000000"/>
                </a:solidFill>
              </a:rPr>
              <a:t>Fast / Standard / Deep / ELI5 / Expert / Dry-run.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63640" y="288036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/>
            <a:r>
              <a:rPr b="1" sz="1300">
                <a:solidFill>
                  <a:srgbClr val="000000"/>
                </a:solidFill>
              </a:rPr>
              <a:t>Streaming SSE Answers</a:t>
            </a:r>
          </a:p>
          <a:p>
            <a:r>
              <a:rPr sz="1100">
                <a:solidFill>
                  <a:srgbClr val="000000"/>
                </a:solidFill>
              </a:rPr>
              <a:t>Tokens stream in real time; events: mode → sources → token → done.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263640" y="406908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/>
            <a:r>
              <a:rPr b="1" sz="1300">
                <a:solidFill>
                  <a:srgbClr val="000000"/>
                </a:solidFill>
              </a:rPr>
              <a:t>Regenerate · Follow-ups · Export</a:t>
            </a:r>
          </a:p>
          <a:p>
            <a:r>
              <a:rPr sz="1100">
                <a:solidFill>
                  <a:srgbClr val="000000"/>
                </a:solidFill>
              </a:rPr>
              <a:t>Re-run in any mode; AI-suggested next questions; download as Markdown.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263640" y="5257800"/>
            <a:ext cx="5486400" cy="1051560"/>
          </a:xfrm>
          <a:prstGeom prst="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09728" tIns="73152" rIns="109728"/>
          <a:lstStyle/>
          <a:p>
            <a:pPr algn="ctr"/>
            <a:r>
              <a:rPr b="1" sz="1300">
                <a:solidFill>
                  <a:srgbClr val="000000"/>
                </a:solidFill>
              </a:rPr>
              <a:t>Threading · Bookmarks · Sharing</a:t>
            </a:r>
          </a:p>
          <a:p>
            <a:r>
              <a:rPr sz="1100">
                <a:solidFill>
                  <a:srgbClr val="000000"/>
                </a:solidFill>
              </a:rPr>
              <a:t>thread_id continuation; Playbook saves; /answer/:id permalinks.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Tech Stack &amp; Models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4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Backend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238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Web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FastAPI 0.115 (async + SSE)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LLM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Google Gemini 2.5 Flash (+ fallback list)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Embedding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BAAI/bge-small-en-v1.5 (384-d)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Re-ranker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BAAI/bge-reranker-base (cross-encoder)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Dense store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FAISS IndexFlatIP (cosine via L2-norm)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Lexical store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BM25Okapi (rank-bm25)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Database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Supabase (PostgreSQL + REST)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Auth verify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firebase-admin SDK (JWT)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Parsing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PyMuPDF · python-docx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Rate limit · Cache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SlowAPI · cachetools TTLCache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62636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Frontend &amp; Infra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6263640" y="141732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82385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Layer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Technology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UI framework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React 18.3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Bundler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Vite 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Routing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react-router-dom 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HTTP / SSE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Axios + native fetch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Auth client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Firebase JS SDK 10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Styling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Tailwind CSS 3.4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Animations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Framer Motion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Markdown render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react-markdown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82385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Containers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Docker + Docker Compose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8239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Auth provider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Firebase Authentication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9" name="TextBox 8"/>
          <p:cNvSpPr txBox="1"/>
          <p:nvPr/>
        </p:nvSpPr>
        <p:spPr>
          <a:xfrm>
            <a:off x="457200" y="585216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Calibri"/>
              </a:rPr>
              <a:t>Three ML models (BGE-small embedder · BGE-reranker-base · Gemini 2.5 Flash) — all warmed at startup via FastAPI lifespan.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System Architecture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5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97280"/>
            <a:ext cx="1106424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17043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0000"/>
                </a:solidFill>
              </a:rPr>
              <a:t>CLIENT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94560"/>
            <a:ext cx="1106424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685800" y="226771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0000"/>
                </a:solidFill>
              </a:rPr>
              <a:t>API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3291840"/>
            <a:ext cx="1106424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336499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0000"/>
                </a:solidFill>
              </a:rPr>
              <a:t>SERVICE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4389120"/>
            <a:ext cx="11064240" cy="960120"/>
          </a:xfrm>
          <a:prstGeom prst="rect">
            <a:avLst/>
          </a:prstGeom>
          <a:solidFill>
            <a:srgbClr val="F2F2F2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462272"/>
            <a:ext cx="210312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b="1" sz="1300">
                <a:solidFill>
                  <a:srgbClr val="000000"/>
                </a:solidFill>
              </a:rPr>
              <a:t>DATA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926080" y="129844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Browser
(React 18 SPA)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5074920" y="129844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AuthContext
(Firebase token)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223760" y="129844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useQuery hook
(fetch SSE)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9372600" y="129844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Pages
(Dashboard, Admin…)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2926080" y="239572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/query · /query/stream
(SSE)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74920" y="239572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/auth · /export
/feedback · /history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7223760" y="239572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/admin/* · /runbooks
/bookmarks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9372600" y="239572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Middleware
SlowAPI · CORS · JWT · Cache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2926080" y="349300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RAG Pipeline
rag/pipeline.py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5074920" y="349300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Modes Pack
rag/modes.py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7223760" y="349300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Retrieval
FAISS · BM25 · Reranker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9372600" y="349300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Ingestion
parser · chunker · indexer</a:t>
            </a:r>
          </a:p>
        </p:txBody>
      </p:sp>
      <p:sp>
        <p:nvSpPr>
          <p:cNvPr id="25" name="Rounded Rectangle 24"/>
          <p:cNvSpPr/>
          <p:nvPr/>
        </p:nvSpPr>
        <p:spPr>
          <a:xfrm>
            <a:off x="2926080" y="459028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Supabase
PostgreSQL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5074920" y="459028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FAISS index.bin
+ metadata.json</a:t>
            </a:r>
          </a:p>
        </p:txBody>
      </p:sp>
      <p:sp>
        <p:nvSpPr>
          <p:cNvPr id="27" name="Rounded Rectangle 26"/>
          <p:cNvSpPr/>
          <p:nvPr/>
        </p:nvSpPr>
        <p:spPr>
          <a:xfrm>
            <a:off x="7223760" y="459028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Firebase Auth
(OAuth + JWT)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372600" y="4590288"/>
            <a:ext cx="2011680" cy="640080"/>
          </a:xfrm>
          <a:prstGeom prst="round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 tIns="36576" bIns="36576"/>
          <a:lstStyle/>
          <a:p>
            <a:pPr algn="ctr"/>
            <a:r>
              <a:rPr sz="1000">
                <a:solidFill>
                  <a:srgbClr val="000000"/>
                </a:solidFill>
              </a:rPr>
              <a:t>Gemini API
+ Hugging Face</a:t>
            </a:r>
          </a:p>
        </p:txBody>
      </p:sp>
      <p:cxnSp>
        <p:nvCxnSpPr>
          <p:cNvPr id="29" name="Connector 28"/>
          <p:cNvCxnSpPr/>
          <p:nvPr/>
        </p:nvCxnSpPr>
        <p:spPr>
          <a:xfrm>
            <a:off x="8229600" y="1938528"/>
            <a:ext cx="0" cy="457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3931920" y="3035808"/>
            <a:ext cx="0" cy="457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3931920" y="4133088"/>
            <a:ext cx="0" cy="4572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2" name="TextBox 31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Calibri"/>
              </a:rPr>
              <a:t>Four logical layers — Client (React) ↔ API (FastAPI + middleware) ↔ Service (RAG / Retrieval / Ingestion) ↔ Data (Supabase · FAISS · external APIs).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RAG Pipeline — Query → Cited Answer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6 / 10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548640" y="146304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User Query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2130552" y="146304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Auth + Mode
Lookup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712464" y="146304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Cache Check
(mode-keyed)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294376" y="146304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HyDE Expand
(Gemini)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876288" y="146304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Embed
BGE-small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458200" y="146304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Hybrid
FAISS + BM25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040112" y="146304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RRF Fuse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1965960" y="180594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3547872" y="180594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5129784" y="180594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6711696" y="180594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8293608" y="180594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75520" y="180594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ounded Rectangle 17"/>
          <p:cNvSpPr/>
          <p:nvPr/>
        </p:nvSpPr>
        <p:spPr>
          <a:xfrm>
            <a:off x="548640" y="324612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Scope Filter
(admin/mine/both)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2130552" y="324612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Re-rank
Cross-Encoder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3712464" y="324612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Gate Check
(score &gt; 0.25)</a:t>
            </a:r>
          </a:p>
        </p:txBody>
      </p:sp>
      <p:sp>
        <p:nvSpPr>
          <p:cNvPr id="21" name="Rounded Rectangle 20"/>
          <p:cNvSpPr/>
          <p:nvPr/>
        </p:nvSpPr>
        <p:spPr>
          <a:xfrm>
            <a:off x="5294376" y="324612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Gemini
stream tokens</a:t>
            </a:r>
          </a:p>
        </p:txBody>
      </p:sp>
      <p:sp>
        <p:nvSpPr>
          <p:cNvPr id="22" name="Rounded Rectangle 21"/>
          <p:cNvSpPr/>
          <p:nvPr/>
        </p:nvSpPr>
        <p:spPr>
          <a:xfrm>
            <a:off x="6876288" y="324612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Follow-ups
(Gemini × 3)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458200" y="324612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Log + Cache</a:t>
            </a:r>
          </a:p>
        </p:txBody>
      </p:sp>
      <p:sp>
        <p:nvSpPr>
          <p:cNvPr id="24" name="Rounded Rectangle 23"/>
          <p:cNvSpPr/>
          <p:nvPr/>
        </p:nvSpPr>
        <p:spPr>
          <a:xfrm>
            <a:off x="10040112" y="3246120"/>
            <a:ext cx="1417320" cy="68580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45720" rIns="45720"/>
          <a:lstStyle/>
          <a:p>
            <a:pPr algn="ctr"/>
            <a:r>
              <a:rPr sz="1000" b="0">
                <a:solidFill>
                  <a:srgbClr val="000000"/>
                </a:solidFill>
                <a:latin typeface="Calibri"/>
              </a:rPr>
              <a:t>SSE 'done'</a:t>
            </a:r>
          </a:p>
        </p:txBody>
      </p:sp>
      <p:cxnSp>
        <p:nvCxnSpPr>
          <p:cNvPr id="25" name="Connector 24"/>
          <p:cNvCxnSpPr/>
          <p:nvPr/>
        </p:nvCxnSpPr>
        <p:spPr>
          <a:xfrm>
            <a:off x="1965960" y="358902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Connector 25"/>
          <p:cNvCxnSpPr/>
          <p:nvPr/>
        </p:nvCxnSpPr>
        <p:spPr>
          <a:xfrm>
            <a:off x="3547872" y="358902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7" name="Connector 26"/>
          <p:cNvCxnSpPr/>
          <p:nvPr/>
        </p:nvCxnSpPr>
        <p:spPr>
          <a:xfrm>
            <a:off x="5129784" y="358902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 27"/>
          <p:cNvCxnSpPr/>
          <p:nvPr/>
        </p:nvCxnSpPr>
        <p:spPr>
          <a:xfrm>
            <a:off x="6711696" y="358902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9" name="Connector 28"/>
          <p:cNvCxnSpPr/>
          <p:nvPr/>
        </p:nvCxnSpPr>
        <p:spPr>
          <a:xfrm>
            <a:off x="8293608" y="358902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Connector 29"/>
          <p:cNvCxnSpPr/>
          <p:nvPr/>
        </p:nvCxnSpPr>
        <p:spPr>
          <a:xfrm>
            <a:off x="9875520" y="3589020"/>
            <a:ext cx="16459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1" name="Connector 30"/>
          <p:cNvCxnSpPr/>
          <p:nvPr/>
        </p:nvCxnSpPr>
        <p:spPr>
          <a:xfrm>
            <a:off x="10748772" y="2148840"/>
            <a:ext cx="0" cy="91440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2" name="Connector 31"/>
          <p:cNvCxnSpPr/>
          <p:nvPr/>
        </p:nvCxnSpPr>
        <p:spPr>
          <a:xfrm flipH="1">
            <a:off x="1257300" y="3063240"/>
            <a:ext cx="9491472" cy="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3" name="Connector 32"/>
          <p:cNvCxnSpPr/>
          <p:nvPr/>
        </p:nvCxnSpPr>
        <p:spPr>
          <a:xfrm>
            <a:off x="1257300" y="3063240"/>
            <a:ext cx="0" cy="182880"/>
          </a:xfrm>
          <a:prstGeom prst="line">
            <a:avLst/>
          </a:prstGeom>
          <a:ln w="12700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4" name="TextBox 33"/>
          <p:cNvSpPr txBox="1"/>
          <p:nvPr/>
        </p:nvSpPr>
        <p:spPr>
          <a:xfrm>
            <a:off x="548640" y="50292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00000"/>
                </a:solidFill>
                <a:latin typeface="Calibri"/>
              </a:rPr>
              <a:t>Mode controls knobs:  use_hyde · top_k (6/12/20) · top_n (3/5/8) · temperature · system_prompt · critique_retry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548640" y="54864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Calibri"/>
              </a:rPr>
              <a:t>Gate-check (score &lt; 0.25) and the system-prompt sentinel together prevent hallucinated answers without source backing.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943600"/>
            <a:ext cx="110642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Calibri"/>
              </a:rPr>
              <a:t>SSE events:  mode  →  sources  →  token (× N)  →  done {query_log_id, top_confidence, mode, follow_ups}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Six Response Modes — One Pipeline, Six Audiences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7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777777"/>
                </a:solidFill>
                <a:latin typeface="Calibri"/>
              </a:rPr>
              <a:t>Each mode bundles a retrieval-config and a system prompt. Cache key includes mode → independent caching per mode.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554480"/>
          <a:ext cx="1124712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74520"/>
                <a:gridCol w="1874520"/>
                <a:gridCol w="1874520"/>
                <a:gridCol w="1874520"/>
                <a:gridCol w="1874520"/>
                <a:gridCol w="1874520"/>
              </a:tblGrid>
              <a:tr h="613954"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Mode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HyDE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top_k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top_n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Temp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200">
                          <a:solidFill>
                            <a:srgbClr val="FFFFFF"/>
                          </a:solidFill>
                          <a:latin typeface="Calibri"/>
                        </a:rPr>
                        <a:t>Use Case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Fast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OFF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 AM incident — terse, ~1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Standard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Default — Summary + Steps + Prevention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Deep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8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Tricky bug — adds Root Cause + Verification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ELI5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0.3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Junior tech — explains jargon + commands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613954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Expert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Senior SRE — TL;DR + command-only steps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13956"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Dry-run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ON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12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5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0.1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200">
                          <a:solidFill>
                            <a:srgbClr val="000000"/>
                          </a:solidFill>
                          <a:latin typeface="Calibri"/>
                        </a:rPr>
                        <a:t>Before destructive ops — annotated + Rollback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943600"/>
            <a:ext cx="112471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1">
                <a:solidFill>
                  <a:srgbClr val="777777"/>
                </a:solidFill>
                <a:latin typeface="Calibri"/>
              </a:rPr>
              <a:t>Adding a new mode = one ModeConfig dict entry in rag/modes.py + one chip in Dashboard.jsx.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Differentiating Features — Beyond Vanilla RAG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8 / 10</a:t>
            </a:r>
          </a:p>
        </p:txBody>
      </p:sp>
      <p:sp>
        <p:nvSpPr>
          <p:cNvPr id="5" name="Rectangle 4"/>
          <p:cNvSpPr/>
          <p:nvPr/>
        </p:nvSpPr>
        <p:spPr>
          <a:xfrm>
            <a:off x="457200" y="10972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Regenerate in Any Mode</a:t>
            </a:r>
          </a:p>
          <a:p>
            <a:r>
              <a:rPr sz="950">
                <a:solidFill>
                  <a:srgbClr val="000000"/>
                </a:solidFill>
              </a:rPr>
              <a:t>One click re-runs the same query in a different mode. The new log row carries regenerate_of FK pointing to the original.</a:t>
            </a:r>
          </a:p>
        </p:txBody>
      </p:sp>
      <p:sp>
        <p:nvSpPr>
          <p:cNvPr id="6" name="Rectangle 5"/>
          <p:cNvSpPr/>
          <p:nvPr/>
        </p:nvSpPr>
        <p:spPr>
          <a:xfrm>
            <a:off x="3337560" y="10972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Follow-up Question Chips</a:t>
            </a:r>
          </a:p>
          <a:p>
            <a:r>
              <a:rPr sz="950">
                <a:solidFill>
                  <a:srgbClr val="000000"/>
                </a:solidFill>
              </a:rPr>
              <a:t>After every successful answer, Gemini proposes 3 short next questions; clicking sends them as a threaded continuation.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0972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Markdown Export</a:t>
            </a:r>
          </a:p>
          <a:p>
            <a:r>
              <a:rPr sz="950">
                <a:solidFill>
                  <a:srgbClr val="000000"/>
                </a:solidFill>
              </a:rPr>
              <a:t>GET /export/{id}.md downloads a portable file with title, mode, confidence, full answer, and sources.</a:t>
            </a:r>
          </a:p>
        </p:txBody>
      </p:sp>
      <p:sp>
        <p:nvSpPr>
          <p:cNvPr id="8" name="Rectangle 7"/>
          <p:cNvSpPr/>
          <p:nvPr/>
        </p:nvSpPr>
        <p:spPr>
          <a:xfrm>
            <a:off x="9098280" y="109728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Citation Gate-Check</a:t>
            </a:r>
          </a:p>
          <a:p>
            <a:r>
              <a:rPr sz="950">
                <a:solidFill>
                  <a:srgbClr val="000000"/>
                </a:solidFill>
              </a:rPr>
              <a:t>If no excerpt directly addresses the question, the LLM emits an escalation sentinel; UI shows an amber empty-state.</a:t>
            </a:r>
          </a:p>
        </p:txBody>
      </p:sp>
      <p:sp>
        <p:nvSpPr>
          <p:cNvPr id="9" name="Rectangle 8"/>
          <p:cNvSpPr/>
          <p:nvPr/>
        </p:nvSpPr>
        <p:spPr>
          <a:xfrm>
            <a:off x="457200" y="265176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Threaded Conversations</a:t>
            </a:r>
          </a:p>
          <a:p>
            <a:r>
              <a:rPr sz="950">
                <a:solidFill>
                  <a:srgbClr val="000000"/>
                </a:solidFill>
              </a:rPr>
              <a:t>thread_id links continuation queries. /history groups by thread; Resume Conversation re-seeds the chat.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3337560" y="265176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Bookmarks (Playbook)</a:t>
            </a:r>
          </a:p>
          <a:p>
            <a:r>
              <a:rPr sz="950">
                <a:solidFill>
                  <a:srgbClr val="000000"/>
                </a:solidFill>
              </a:rPr>
              <a:t>Per-user saved answers with snippet + sources, paginated.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6217920" y="265176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Shareable Permalinks</a:t>
            </a:r>
          </a:p>
          <a:p>
            <a:r>
              <a:rPr sz="950">
                <a:solidFill>
                  <a:srgbClr val="000000"/>
                </a:solidFill>
              </a:rPr>
              <a:t>/answer/:id renders a read-only view of any logged answer.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9098280" y="265176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Admin Knowledge Gaps</a:t>
            </a:r>
          </a:p>
          <a:p>
            <a:r>
              <a:rPr sz="950">
                <a:solidFill>
                  <a:srgbClr val="000000"/>
                </a:solidFill>
              </a:rPr>
              <a:t>Surfaces low-confidence and negative-feedback queries grouped by topic — closes the documentation feedback loop.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42062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Runbook Health Grid</a:t>
            </a:r>
          </a:p>
          <a:p>
            <a:r>
              <a:rPr sz="950">
                <a:solidFill>
                  <a:srgbClr val="000000"/>
                </a:solidFill>
              </a:rPr>
              <a:t>Per-runbook query count, average confidence, thumbs ratio, Needs-Attention flag (&gt;60% thumbs-down).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337560" y="42062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Streaming with Abort</a:t>
            </a:r>
          </a:p>
          <a:p>
            <a:r>
              <a:rPr sz="950">
                <a:solidFill>
                  <a:srgbClr val="000000"/>
                </a:solidFill>
              </a:rPr>
              <a:t>useQuery uses AbortController so a new query cancels in-flight stream cleanly.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217920" y="42062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Per-Mode TTL Cache</a:t>
            </a:r>
          </a:p>
          <a:p>
            <a:r>
              <a:rPr sz="950">
                <a:solidFill>
                  <a:srgbClr val="000000"/>
                </a:solidFill>
              </a:rPr>
              <a:t>Same query in different modes is cached independently (sha256 of mode:scope:user:query).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9098280" y="4206240"/>
            <a:ext cx="2743200" cy="1417320"/>
          </a:xfrm>
          <a:prstGeom prst="rect">
            <a:avLst/>
          </a:prstGeom>
          <a:solidFill>
            <a:srgbClr val="FFFFFF"/>
          </a:solidFill>
          <a:ln w="6350">
            <a:solidFill>
              <a:srgbClr val="00000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tIns="73152"/>
          <a:lstStyle/>
          <a:p>
            <a:pPr algn="ctr"/>
            <a:r>
              <a:rPr b="1" sz="1100">
                <a:solidFill>
                  <a:srgbClr val="000000"/>
                </a:solidFill>
              </a:rPr>
              <a:t>Cmd+K Command Palette</a:t>
            </a:r>
          </a:p>
          <a:p>
            <a:r>
              <a:rPr sz="950">
                <a:solidFill>
                  <a:srgbClr val="000000"/>
                </a:solidFill>
              </a:rPr>
              <a:t>Keyboard-driven nav with grouped suggestions/navigation/actions.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Database Schema &amp; API Surface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9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Supabase Tables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5486400" cy="4206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84124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Table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Key Columns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runbooks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id · filename · category · file_type · uploaded_by · content_hash · is_admin_runbook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query_logs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id · user_id · query_text · retrieved_sources · llm_response · confidence_score · thread_id · mode · regenerate_of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feedback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id · query_log_id · user_id · rating (1/-1) · comment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bookmarks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id · user_id · query_log_id · query_text · answer_snippet · sources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57200" y="571500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777777"/>
                </a:solidFill>
                <a:latin typeface="Calibri"/>
              </a:rPr>
              <a:t>Self-FKs: query_logs.thread_id → query_logs.id; query_logs.regenerate_of → query_logs.id.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263640" y="1005840"/>
            <a:ext cx="5486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 i="0">
                <a:solidFill>
                  <a:srgbClr val="000000"/>
                </a:solidFill>
                <a:latin typeface="Calibri"/>
              </a:rPr>
              <a:t>Key API Routes</a:t>
            </a:r>
          </a:p>
        </p:txBody>
      </p: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263640" y="1417320"/>
          <a:ext cx="5486400" cy="4297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</a:tblGrid>
              <a:tr h="390698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Method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Path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/query  ·  /query/stream  (SSE)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/answer/{id}        — permalink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/export/{id}.md     — Markdown download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/feedback           — thumbs + comment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/history            — threaded log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/bookmarks  · GET · DELETE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/runbooks/upload  · GET /runbooks/my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POST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/admin/upload  · GET /admin/runbook-health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390698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/admin/knowledge-gaps · feedback-stats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90700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GET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/auth/me  · POST /auth/verify  · /health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65760" y="228600"/>
            <a:ext cx="10058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800" b="1">
                <a:solidFill>
                  <a:srgbClr val="000000"/>
                </a:solidFill>
                <a:latin typeface="Calibri"/>
              </a:rPr>
              <a:t>Results, Roadmap &amp; Conclusion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365760" y="868680"/>
            <a:ext cx="11457432" cy="0"/>
          </a:xfrm>
          <a:prstGeom prst="line">
            <a:avLst/>
          </a:prstGeom>
          <a:ln w="9525">
            <a:solidFill>
              <a:srgbClr val="000000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365760" y="6400800"/>
            <a:ext cx="11430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900" i="1">
                <a:solidFill>
                  <a:srgbClr val="777777"/>
                </a:solidFill>
              </a:rPr>
              <a:t>ResolveIT AI</a:t>
            </a:r>
            <a:r>
              <a:t>        </a:t>
            </a:r>
            <a:r>
              <a:rPr sz="900">
                <a:solidFill>
                  <a:srgbClr val="777777"/>
                </a:solidFill>
              </a:rPr>
              <a:t>Slide 10 /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Benchmarks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457200" y="1417320"/>
          <a:ext cx="3657600" cy="29260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828800"/>
                <a:gridCol w="1828800"/>
              </a:tblGrid>
              <a:tr h="418011"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Metric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b="1" sz="1100">
                          <a:solidFill>
                            <a:srgbClr val="FFFFFF"/>
                          </a:solidFill>
                          <a:latin typeface="Calibri"/>
                        </a:rPr>
                        <a:t>Result</a:t>
                      </a:r>
                    </a:p>
                  </a:txBody>
                  <a:tcPr>
                    <a:solidFill>
                      <a:srgbClr val="000000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Fast — TTFT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&lt; 1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Standard — E2E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3 – 5 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Deep — E2E (k=20)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 – 9 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Cache-hit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&lt; 50 ms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  <a:tr h="418011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FAISS top-12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&lt; 10 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18014"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Streaming throughput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100">
                          <a:solidFill>
                            <a:srgbClr val="000000"/>
                          </a:solidFill>
                          <a:latin typeface="Calibri"/>
                        </a:rPr>
                        <a:t>50 – 80 tok/s</a:t>
                      </a:r>
                    </a:p>
                  </a:txBody>
                  <a:tcPr>
                    <a:solidFill>
                      <a:srgbClr val="F2F2F2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429768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Future Roadmap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297680" y="14173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Workspaces + RBAC (replace email whitelist).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Compare / Diff mode (admin vs mine, A vs B).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URL · Confluence · Notion · GitHub sync.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OCR for scanned PDFs.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Citation faithfulness verifier (2nd pass LLM).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Light/system theme · Settings page · PWA.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Eval harness (recall@5 · MRR · grounding).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60" y="1051560"/>
            <a:ext cx="36576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000000"/>
                </a:solidFill>
                <a:latin typeface="Calibri"/>
              </a:rPr>
              <a:t>Conclusion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60" y="1417320"/>
            <a:ext cx="36576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Citation-grounded RAG with strict gate-check.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Six response modes from one pipeline (~120 LoC).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Hybrid retrieval: semantic + lexical + cross-encoder.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Streaming UX with abort + threaded history.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First-class artifacts: bookmark · share · export.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Admin loop: knowledge gaps + runbook health.</a:t>
            </a:r>
          </a:p>
          <a:p>
            <a:pPr algn="l">
              <a:lnSpc>
                <a:spcPct val="115000"/>
              </a:lnSpc>
            </a:pPr>
            <a:r>
              <a:rPr sz="1100">
                <a:solidFill>
                  <a:srgbClr val="000000"/>
                </a:solidFill>
                <a:latin typeface="Calibri"/>
              </a:rPr>
              <a:t>•  Modular architecture for future tiers.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5852160"/>
            <a:ext cx="1124712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200" b="1" i="0">
                <a:solidFill>
                  <a:srgbClr val="000000"/>
                </a:solidFill>
                <a:latin typeface="Calibri"/>
              </a:rPr>
              <a:t>Thank you  ·  Questions?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