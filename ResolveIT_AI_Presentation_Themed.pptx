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068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B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9599716" y="4428572"/>
            <a:ext cx="3901053" cy="4401655"/>
          </a:xfrm>
          <a:prstGeom prst="ellipse">
            <a:avLst/>
          </a:prstGeom>
          <a:solidFill>
            <a:srgbClr val="D9770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74519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Plus Jakarta Sans"/>
              </a:rPr>
              <a:t>INTERNAL IT SUPPORT  ·  RAG  · 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200" b="1" i="0">
                <a:solidFill>
                  <a:srgbClr val="E8DFD6"/>
                </a:solidFill>
                <a:latin typeface="Plus Jakarta Sans"/>
              </a:rPr>
              <a:t>ResolveIT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 i="1">
                <a:solidFill>
                  <a:srgbClr val="9C8B80"/>
                </a:solidFill>
                <a:latin typeface="Plus Jakarta Sans"/>
              </a:rPr>
              <a:t>Smart Runbook Resolution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567" y="4086779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 i="0">
                <a:solidFill>
                  <a:srgbClr val="E8DFD6"/>
                </a:solidFill>
                <a:latin typeface="Plus Jakarta Sans"/>
              </a:rPr>
              <a:t>Cited answers · Six modes · Hybrid retrieval · Real-time streaming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1451" y="4892040"/>
            <a:ext cx="1417320" cy="384048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000" b="1">
                <a:solidFill>
                  <a:srgbClr val="FBBF24"/>
                </a:solidFill>
                <a:latin typeface="Plus Jakarta Sans"/>
              </a:rPr>
              <a:t>FastAPI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23363" y="4892040"/>
            <a:ext cx="1417320" cy="384048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000" b="1">
                <a:solidFill>
                  <a:srgbClr val="FBBF24"/>
                </a:solidFill>
                <a:latin typeface="Plus Jakarta Sans"/>
              </a:rPr>
              <a:t>React + Vite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05275" y="4892040"/>
            <a:ext cx="1417320" cy="384048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000" b="1">
                <a:solidFill>
                  <a:srgbClr val="FBBF24"/>
                </a:solidFill>
                <a:latin typeface="Plus Jakarta Sans"/>
              </a:rPr>
              <a:t>FAISS + BM25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87187" y="4892040"/>
            <a:ext cx="1417320" cy="384048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000" b="1">
                <a:solidFill>
                  <a:srgbClr val="FBBF24"/>
                </a:solidFill>
                <a:latin typeface="Plus Jakarta Sans"/>
              </a:rPr>
              <a:t>BGE Reranker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9099" y="4892040"/>
            <a:ext cx="1417320" cy="384048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000" b="1">
                <a:solidFill>
                  <a:srgbClr val="FBBF24"/>
                </a:solidFill>
                <a:latin typeface="Plus Jakarta Sans"/>
              </a:rPr>
              <a:t>Gemini 2.5 Flash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51011" y="4892040"/>
            <a:ext cx="1417320" cy="384048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000" b="1">
                <a:solidFill>
                  <a:srgbClr val="FBBF24"/>
                </a:solidFill>
                <a:latin typeface="Plus Jakarta Sans"/>
              </a:rPr>
              <a:t>Supabase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32923" y="4892040"/>
            <a:ext cx="1417320" cy="384048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1000" b="1">
                <a:solidFill>
                  <a:srgbClr val="FBBF24"/>
                </a:solidFill>
                <a:latin typeface="Plus Jakarta Sans"/>
              </a:rPr>
              <a:t>Firebase 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>
                <a:solidFill>
                  <a:srgbClr val="6D5F57"/>
                </a:solidFill>
                <a:latin typeface="Plus Jakarta Sans"/>
              </a:rPr>
              <a:t>Project Documentation Deck  ·  10 slides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D5F57"/>
                </a:solidFill>
                <a:latin typeface="Plus Jakarta Sans"/>
              </a:rPr>
              <a:t>ResolveIT AI · Slide 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B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F59E0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Plus Jakarta San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8DFD6"/>
                </a:solidFill>
                <a:latin typeface="Plus Jakarta Sans"/>
              </a:rPr>
              <a:t>Why ResolveIT AI exists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78992"/>
            <a:ext cx="182880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4114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9C8B80"/>
                </a:solidFill>
                <a:latin typeface="Plus Jakarta Sans"/>
              </a:rPr>
              <a:t>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9C8B80"/>
                </a:solidFill>
                <a:latin typeface="Plus Jakarta Sans"/>
              </a:rPr>
              <a:t>Internal IT teams keep runbooks scattered across PDFs, wikis, and shared drives — finding the right fix during an incident is slow, error-prone, and ungrounded.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577840" cy="429768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Plus Jakarta Sans"/>
              </a:rPr>
              <a:t>Pain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F4444"/>
                </a:solidFill>
                <a:latin typeface="Plus Jakarta Sans"/>
              </a:rPr>
              <a:t>›  </a:t>
            </a:r>
            <a:r>
              <a:rPr sz="1300">
                <a:solidFill>
                  <a:srgbClr val="E8DFD6"/>
                </a:solidFill>
                <a:latin typeface="Plus Jakarta Sans"/>
              </a:rPr>
              <a:t>Engineers waste minutes-to-hours per incident searching for fixes.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EF4444"/>
                </a:solidFill>
                <a:latin typeface="Plus Jakarta Sans"/>
              </a:rPr>
              <a:t>›  </a:t>
            </a:r>
            <a:r>
              <a:rPr sz="1300">
                <a:solidFill>
                  <a:srgbClr val="E8DFD6"/>
                </a:solidFill>
                <a:latin typeface="Plus Jakarta Sans"/>
              </a:rPr>
              <a:t>Keyword search returns documents, not answers.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EF4444"/>
                </a:solidFill>
                <a:latin typeface="Plus Jakarta Sans"/>
              </a:rPr>
              <a:t>›  </a:t>
            </a:r>
            <a:r>
              <a:rPr sz="1300">
                <a:solidFill>
                  <a:srgbClr val="E8DFD6"/>
                </a:solidFill>
                <a:latin typeface="Plus Jakarta Sans"/>
              </a:rPr>
              <a:t>Generic chatbots hallucinate — unsafe for production actions.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EF4444"/>
                </a:solidFill>
                <a:latin typeface="Plus Jakarta Sans"/>
              </a:rPr>
              <a:t>›  </a:t>
            </a:r>
            <a:r>
              <a:rPr sz="1300">
                <a:solidFill>
                  <a:srgbClr val="E8DFD6"/>
                </a:solidFill>
                <a:latin typeface="Plus Jakarta Sans"/>
              </a:rPr>
              <a:t>Senior SREs and new-hires need very different answer styles.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EF4444"/>
                </a:solidFill>
                <a:latin typeface="Plus Jakarta Sans"/>
              </a:rPr>
              <a:t>›  </a:t>
            </a:r>
            <a:r>
              <a:rPr sz="1300">
                <a:solidFill>
                  <a:srgbClr val="E8DFD6"/>
                </a:solidFill>
                <a:latin typeface="Plus Jakarta Sans"/>
              </a:rPr>
              <a:t>Knowledge gaps stay invisible until they cause an outage.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486400" cy="429768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Plus Jakarta Sans"/>
              </a:rPr>
              <a:t>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0B981"/>
                </a:solidFill>
                <a:latin typeface="Plus Jakarta Sans"/>
              </a:rPr>
              <a:t>›  </a:t>
            </a:r>
            <a:r>
              <a:rPr sz="1300">
                <a:solidFill>
                  <a:srgbClr val="E8DFD6"/>
                </a:solidFill>
                <a:latin typeface="Plus Jakarta Sans"/>
              </a:rPr>
              <a:t>Citation-grounded resolutions tied to internal runbooks.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10B981"/>
                </a:solidFill>
                <a:latin typeface="Plus Jakarta Sans"/>
              </a:rPr>
              <a:t>›  </a:t>
            </a:r>
            <a:r>
              <a:rPr sz="1300">
                <a:solidFill>
                  <a:srgbClr val="E8DFD6"/>
                </a:solidFill>
                <a:latin typeface="Plus Jakarta Sans"/>
              </a:rPr>
              <a:t>Mode-aware answers that adapt to user expertise.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10B981"/>
                </a:solidFill>
                <a:latin typeface="Plus Jakarta Sans"/>
              </a:rPr>
              <a:t>›  </a:t>
            </a:r>
            <a:r>
              <a:rPr sz="1300">
                <a:solidFill>
                  <a:srgbClr val="E8DFD6"/>
                </a:solidFill>
                <a:latin typeface="Plus Jakarta Sans"/>
              </a:rPr>
              <a:t>Real-time streaming with verifiable inline sources.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10B981"/>
                </a:solidFill>
                <a:latin typeface="Plus Jakarta Sans"/>
              </a:rPr>
              <a:t>›  </a:t>
            </a:r>
            <a:r>
              <a:rPr sz="1300">
                <a:solidFill>
                  <a:srgbClr val="E8DFD6"/>
                </a:solidFill>
                <a:latin typeface="Plus Jakarta Sans"/>
              </a:rPr>
              <a:t>Closed-loop feedback so admins detect knowledge gaps.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10B981"/>
                </a:solidFill>
                <a:latin typeface="Plus Jakarta Sans"/>
              </a:rPr>
              <a:t>›  </a:t>
            </a:r>
            <a:r>
              <a:rPr sz="1300">
                <a:solidFill>
                  <a:srgbClr val="E8DFD6"/>
                </a:solidFill>
                <a:latin typeface="Plus Jakarta Sans"/>
              </a:rPr>
              <a:t>Production-ready: auth, rate limits, cache, idempotent migrations.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3D3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6D5F57"/>
                </a:solidFill>
                <a:latin typeface="Plus Jakarta Sans"/>
              </a:rPr>
              <a:t>ResolveIT AI · Smart Runbook Resolution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B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F59E0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Plus Jakarta Sans"/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8DFD6"/>
                </a:solidFill>
                <a:latin typeface="Plus Jakarta Sans"/>
              </a:rPr>
              <a:t>Key Capabilities at a Glance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78992"/>
            <a:ext cx="182880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4114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9C8B80"/>
                </a:solidFill>
                <a:latin typeface="Plus Jakarta Sans"/>
              </a:rPr>
              <a:t>3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97480" cy="12344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ctr"/>
          <a:lstStyle/>
          <a:p>
            <a:pPr algn="ctr"/>
            <a:r>
              <a:rPr sz="1300" b="1">
                <a:solidFill>
                  <a:srgbClr val="E8DFD6"/>
                </a:solidFill>
                <a:latin typeface="Plus Jakarta Sans"/>
              </a:rPr>
              <a:t>Hybrid Retrieval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9C8B80"/>
                </a:solidFill>
                <a:latin typeface="Plus Jakarta Sans"/>
              </a:rPr>
              <a:t>FAISS dense + BM25 lexical, fused via Reciprocal Rank Fusion (k=60).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19272" y="1417320"/>
            <a:ext cx="2697480" cy="12344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ctr"/>
          <a:lstStyle/>
          <a:p>
            <a:pPr algn="ctr"/>
            <a:r>
              <a:rPr sz="1300" b="1">
                <a:solidFill>
                  <a:srgbClr val="E8DFD6"/>
                </a:solidFill>
                <a:latin typeface="Plus Jakarta Sans"/>
              </a:rPr>
              <a:t>HyDE Expansion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9C8B80"/>
                </a:solidFill>
                <a:latin typeface="Plus Jakarta Sans"/>
              </a:rPr>
              <a:t>Gemini writes a hypothetical passage to bridge query/document vocabulary.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9272" y="141732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81344" y="1417320"/>
            <a:ext cx="2697480" cy="12344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ctr"/>
          <a:lstStyle/>
          <a:p>
            <a:pPr algn="ctr"/>
            <a:r>
              <a:rPr sz="1300" b="1">
                <a:solidFill>
                  <a:srgbClr val="E8DFD6"/>
                </a:solidFill>
                <a:latin typeface="Plus Jakarta Sans"/>
              </a:rPr>
              <a:t>Cross-Encoder Re-rank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9C8B80"/>
                </a:solidFill>
                <a:latin typeface="Plus Jakarta Sans"/>
              </a:rPr>
              <a:t>BGE-reranker-base scores (query, chunk) pairs; sigmoid → confidence ∈ [0,1].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141732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43416" y="1417320"/>
            <a:ext cx="2697480" cy="12344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ctr"/>
          <a:lstStyle/>
          <a:p>
            <a:pPr algn="ctr"/>
            <a:r>
              <a:rPr sz="1300" b="1">
                <a:solidFill>
                  <a:srgbClr val="E8DFD6"/>
                </a:solidFill>
                <a:latin typeface="Plus Jakarta Sans"/>
              </a:rPr>
              <a:t>Strict Gate Check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9C8B80"/>
                </a:solidFill>
                <a:latin typeface="Plus Jakarta Sans"/>
              </a:rPr>
              <a:t>If no excerpt directly addresses the query, refuses with an escalation sentinel.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43416" y="141732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2816352"/>
            <a:ext cx="2697480" cy="12344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ctr"/>
          <a:lstStyle/>
          <a:p>
            <a:pPr algn="ctr"/>
            <a:r>
              <a:rPr sz="1300" b="1">
                <a:solidFill>
                  <a:srgbClr val="E8DFD6"/>
                </a:solidFill>
                <a:latin typeface="Plus Jakarta Sans"/>
              </a:rPr>
              <a:t>Six Response Modes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9C8B80"/>
                </a:solidFill>
                <a:latin typeface="Plus Jakarta Sans"/>
              </a:rPr>
              <a:t>Fast / Standard / Deep / ELI5 / Expert / Dry-run.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16352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319272" y="2816352"/>
            <a:ext cx="2697480" cy="12344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ctr"/>
          <a:lstStyle/>
          <a:p>
            <a:pPr algn="ctr"/>
            <a:r>
              <a:rPr sz="1300" b="1">
                <a:solidFill>
                  <a:srgbClr val="E8DFD6"/>
                </a:solidFill>
                <a:latin typeface="Plus Jakarta Sans"/>
              </a:rPr>
              <a:t>Streaming SSE Answers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9C8B80"/>
                </a:solidFill>
                <a:latin typeface="Plus Jakarta Sans"/>
              </a:rPr>
              <a:t>Tokens stream in real time; events: mode → sources → token → done.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9272" y="2816352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81344" y="2816352"/>
            <a:ext cx="2697480" cy="12344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ctr"/>
          <a:lstStyle/>
          <a:p>
            <a:pPr algn="ctr"/>
            <a:r>
              <a:rPr sz="1300" b="1">
                <a:solidFill>
                  <a:srgbClr val="E8DFD6"/>
                </a:solidFill>
                <a:latin typeface="Plus Jakarta Sans"/>
              </a:rPr>
              <a:t>Regenerate · Follow-ups · Export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9C8B80"/>
                </a:solidFill>
                <a:latin typeface="Plus Jakarta Sans"/>
              </a:rPr>
              <a:t>Re-run in any mode; AI-suggested next questions; download as Markdown.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2816352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043416" y="2816352"/>
            <a:ext cx="2697480" cy="12344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ctr"/>
          <a:lstStyle/>
          <a:p>
            <a:pPr algn="ctr"/>
            <a:r>
              <a:rPr sz="1300" b="1">
                <a:solidFill>
                  <a:srgbClr val="E8DFD6"/>
                </a:solidFill>
                <a:latin typeface="Plus Jakarta Sans"/>
              </a:rPr>
              <a:t>Threading · Bookmarks · Sharing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9C8B80"/>
                </a:solidFill>
                <a:latin typeface="Plus Jakarta Sans"/>
              </a:rPr>
              <a:t>thread_id continuation; Playbook saves; /answer/:id permalinks.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43416" y="2816352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80847" y="4434840"/>
            <a:ext cx="1828800" cy="14630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0847" y="4599432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  <a:latin typeface="Plus Jakarta San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847" y="5303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C8B80"/>
                </a:solidFill>
                <a:latin typeface="Plus Jakarta Sans"/>
              </a:rPr>
              <a:t>ML Models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01087" y="4434840"/>
            <a:ext cx="1828800" cy="14630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01087" y="4599432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  <a:latin typeface="Plus Jakarta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01087" y="5303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C8B80"/>
                </a:solidFill>
                <a:latin typeface="Plus Jakarta Sans"/>
              </a:rPr>
              <a:t>Response Modes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21327" y="4434840"/>
            <a:ext cx="1828800" cy="14630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21327" y="4599432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  <a:latin typeface="Plus Jakarta San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1327" y="5303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C8B80"/>
                </a:solidFill>
                <a:latin typeface="Plus Jakarta Sans"/>
              </a:rPr>
              <a:t>DB Tables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1567" y="4434840"/>
            <a:ext cx="1828800" cy="14630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41567" y="4599432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  <a:latin typeface="Plus Jakarta Sans"/>
              </a:rPr>
              <a:t>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1567" y="5303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C8B80"/>
                </a:solidFill>
                <a:latin typeface="Plus Jakarta Sans"/>
              </a:rPr>
              <a:t>API Routes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1807" y="4434840"/>
            <a:ext cx="1828800" cy="14630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61807" y="4599432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  <a:latin typeface="Plus Jakarta Sans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1807" y="5303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C8B80"/>
                </a:solidFill>
                <a:latin typeface="Plus Jakarta Sans"/>
              </a:rPr>
              <a:t>Pipeline Stages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82047" y="4434840"/>
            <a:ext cx="1828800" cy="14630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982047" y="4599432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  <a:latin typeface="Plus Jakarta Sans"/>
              </a:rPr>
              <a:t>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82047" y="5303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9C8B80"/>
                </a:solidFill>
                <a:latin typeface="Plus Jakarta Sans"/>
              </a:rPr>
              <a:t>RRF Constant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3D3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6D5F57"/>
                </a:solidFill>
                <a:latin typeface="Plus Jakarta Sans"/>
              </a:rPr>
              <a:t>ResolveIT AI · Smart Runbook Resolution Assistant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B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Plus Jakarta Sans"/>
              </a:rPr>
              <a:t>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8DFD6"/>
                </a:solidFill>
                <a:latin typeface="Plus Jakarta Sans"/>
              </a:rPr>
              <a:t>Tech Stack &amp; Models Used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78992"/>
            <a:ext cx="182880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4114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9C8B80"/>
                </a:solidFill>
                <a:latin typeface="Plus Jakarta Sans"/>
              </a:rPr>
              <a:t>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7291" y="1280160"/>
            <a:ext cx="5787749" cy="516636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3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>
                <a:solidFill>
                  <a:srgbClr val="F59E0B"/>
                </a:solidFill>
                <a:latin typeface="Plus Jakarta Sans"/>
              </a:rPr>
              <a:t>Backend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5349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69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E0B09"/>
                          </a:solidFill>
                          <a:latin typeface="Plus Jakarta Sans"/>
                        </a:rPr>
                        <a:t>Layer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E0B09"/>
                          </a:solidFill>
                          <a:latin typeface="Plus Jakarta Sans"/>
                        </a:rPr>
                        <a:t>Technology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Web framework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FastAPI 0.115 (async + SSE)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LLM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Gemini 2.5 Flash (+ fallback list)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Embedding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BAAI/bge-small-en-v1.5 (384-d)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Re-ranker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BAAI/bge-reranker-base (cross-encoder)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Dense store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FAISS IndexFlatIP (cosine via L2-norm)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Lexical store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BM25Okapi (rank-bm25)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Database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Supabase (PostgreSQL + REST)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Auth verify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E8DFD6"/>
                          </a:solidFill>
                          <a:latin typeface="Plus Jakarta Sans"/>
                        </a:rPr>
                        <a:t>firebase-admin SDK (JWT)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Parsing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PyMuPDF · python-docx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700"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E8DFD6"/>
                          </a:solidFill>
                          <a:latin typeface="Plus Jakarta Sans"/>
                        </a:rPr>
                        <a:t>Rate · Cache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E8DFD6"/>
                          </a:solidFill>
                          <a:latin typeface="Plus Jakarta Sans"/>
                        </a:rPr>
                        <a:t>SlowAPI</a:t>
                      </a:r>
                      <a:r>
                        <a:rPr sz="1000" dirty="0">
                          <a:solidFill>
                            <a:srgbClr val="E8DFD6"/>
                          </a:solidFill>
                          <a:latin typeface="Plus Jakarta Sans"/>
                        </a:rPr>
                        <a:t> · </a:t>
                      </a:r>
                      <a:r>
                        <a:rPr sz="1000" dirty="0" err="1">
                          <a:solidFill>
                            <a:srgbClr val="E8DFD6"/>
                          </a:solidFill>
                          <a:latin typeface="Plus Jakarta Sans"/>
                        </a:rPr>
                        <a:t>cachetools</a:t>
                      </a:r>
                      <a:r>
                        <a:rPr sz="1000" dirty="0">
                          <a:solidFill>
                            <a:srgbClr val="E8DFD6"/>
                          </a:solidFill>
                          <a:latin typeface="Plus Jakarta Sans"/>
                        </a:rPr>
                        <a:t> </a:t>
                      </a:r>
                      <a:r>
                        <a:rPr sz="1000" dirty="0" err="1">
                          <a:solidFill>
                            <a:srgbClr val="E8DFD6"/>
                          </a:solidFill>
                          <a:latin typeface="Plus Jakarta Sans"/>
                        </a:rPr>
                        <a:t>TTLCache</a:t>
                      </a:r>
                      <a:endParaRPr sz="1000" dirty="0">
                        <a:solidFill>
                          <a:srgbClr val="E8DFD6"/>
                        </a:solidFill>
                        <a:latin typeface="Plus Jakarta Sans"/>
                      </a:endParaRPr>
                    </a:p>
                  </a:txBody>
                  <a:tcPr>
                    <a:solidFill>
                      <a:srgbClr val="0E0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096000" y="1280159"/>
            <a:ext cx="5654040" cy="5166359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46304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>
                <a:solidFill>
                  <a:srgbClr val="F59E0B"/>
                </a:solidFill>
                <a:latin typeface="Plus Jakarta Sans"/>
              </a:rPr>
              <a:t>Frontend &amp; Infra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828800"/>
          <a:ext cx="5349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69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E0B09"/>
                          </a:solidFill>
                          <a:latin typeface="Plus Jakarta Sans"/>
                        </a:rPr>
                        <a:t>Layer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E0B09"/>
                          </a:solidFill>
                          <a:latin typeface="Plus Jakarta Sans"/>
                        </a:rPr>
                        <a:t>Technology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UI framework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React 18.3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Bundler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Vite 5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Routing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react-router-dom 6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HTTP / SSE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Axios + native fetch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Auth client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Firebase JS SDK 10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Styling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Tailwind CSS 3.4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Animations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Framer Motion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Markdown render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react-markdown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Containers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Docker + Docker Compose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7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Auth provider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E8DFD6"/>
                          </a:solidFill>
                          <a:latin typeface="Plus Jakarta Sans"/>
                        </a:rPr>
                        <a:t>Firebase Authentication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12" name="Connector 1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3D3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6D5F57"/>
                </a:solidFill>
                <a:latin typeface="Plus Jakarta Sans"/>
              </a:rPr>
              <a:t>ResolveIT AI · Smart Runbook Resolution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B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F59E0B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Plus Jakarta San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8DFD6"/>
                </a:solidFill>
                <a:latin typeface="Plus Jakarta Sans"/>
              </a:rPr>
              <a:t>System Architecture — Four Layers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78992"/>
            <a:ext cx="182880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4114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9C8B80"/>
                </a:solidFill>
                <a:latin typeface="Plus Jakarta Sans"/>
              </a:rPr>
              <a:t>5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11292840" cy="96012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3716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Plus Jakarta Sans"/>
              </a:rPr>
              <a:t>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23160"/>
            <a:ext cx="11292840" cy="96012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24688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Plus Jakarta Sans"/>
              </a:rPr>
              <a:t>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20440"/>
            <a:ext cx="11292840" cy="96012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35661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Plus Jakarta Sans"/>
              </a:rPr>
              <a:t>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17720"/>
            <a:ext cx="11292840" cy="96012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617720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4663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Plus Jakarta Sans"/>
              </a:rPr>
              <a:t>DATA · EXTERNAL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1527048"/>
            <a:ext cx="2011680" cy="640080"/>
          </a:xfrm>
          <a:prstGeom prst="roundRect">
            <a:avLst/>
          </a:prstGeom>
          <a:solidFill>
            <a:srgbClr val="0E0B09"/>
          </a:solidFill>
          <a:ln w="6350">
            <a:solidFill>
              <a:srgbClr val="3D3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>
                <a:solidFill>
                  <a:srgbClr val="E8DFD6"/>
                </a:solidFill>
                <a:latin typeface="Plus Jakarta Sans"/>
              </a:rPr>
              <a:t>Browser
React 18 SPA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65192" y="1527048"/>
            <a:ext cx="2011680" cy="640080"/>
          </a:xfrm>
          <a:prstGeom prst="roundRect">
            <a:avLst/>
          </a:prstGeom>
          <a:solidFill>
            <a:srgbClr val="0E0B09"/>
          </a:solidFill>
          <a:ln w="6350">
            <a:solidFill>
              <a:srgbClr val="3D3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>
                <a:solidFill>
                  <a:srgbClr val="E8DFD6"/>
                </a:solidFill>
                <a:latin typeface="Plus Jakarta Sans"/>
              </a:rPr>
              <a:t>AuthContext
(Firebase token)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41464" y="1527048"/>
            <a:ext cx="2011680" cy="640080"/>
          </a:xfrm>
          <a:prstGeom prst="roundRect">
            <a:avLst/>
          </a:prstGeom>
          <a:solidFill>
            <a:srgbClr val="0E0B09"/>
          </a:solidFill>
          <a:ln w="6350">
            <a:solidFill>
              <a:srgbClr val="3D3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>
                <a:solidFill>
                  <a:srgbClr val="E8DFD6"/>
                </a:solidFill>
                <a:latin typeface="Plus Jakarta Sans"/>
              </a:rPr>
              <a:t>useQuery hook
(fetch SSE)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17736" y="1527048"/>
            <a:ext cx="2011680" cy="640080"/>
          </a:xfrm>
          <a:prstGeom prst="roundRect">
            <a:avLst/>
          </a:prstGeom>
          <a:solidFill>
            <a:srgbClr val="0E0B09"/>
          </a:solidFill>
          <a:ln w="6350">
            <a:solidFill>
              <a:srgbClr val="3D3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>
                <a:solidFill>
                  <a:srgbClr val="E8DFD6"/>
                </a:solidFill>
                <a:latin typeface="Plus Jakarta Sans"/>
              </a:rPr>
              <a:t>Pages
Dashboard · Admin 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2624328"/>
            <a:ext cx="2011680" cy="640080"/>
          </a:xfrm>
          <a:prstGeom prst="roundRect">
            <a:avLst/>
          </a:prstGeom>
          <a:solidFill>
            <a:srgbClr val="0E0B09"/>
          </a:solidFill>
          <a:ln w="6350">
            <a:solidFill>
              <a:srgbClr val="3D3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>
                <a:solidFill>
                  <a:srgbClr val="E8DFD6"/>
                </a:solidFill>
                <a:latin typeface="Plus Jakarta Sans"/>
              </a:rPr>
              <a:t>/query · /query/stream
(SSE)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65192" y="2624328"/>
            <a:ext cx="2011680" cy="640080"/>
          </a:xfrm>
          <a:prstGeom prst="roundRect">
            <a:avLst/>
          </a:prstGeom>
          <a:solidFill>
            <a:srgbClr val="0E0B09"/>
          </a:solidFill>
          <a:ln w="6350">
            <a:solidFill>
              <a:srgbClr val="3D3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>
                <a:solidFill>
                  <a:srgbClr val="E8DFD6"/>
                </a:solidFill>
                <a:latin typeface="Plus Jakarta Sans"/>
              </a:rPr>
              <a:t>/auth · /export
/feedback · /history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41464" y="2624328"/>
            <a:ext cx="2011680" cy="640080"/>
          </a:xfrm>
          <a:prstGeom prst="roundRect">
            <a:avLst/>
          </a:prstGeom>
          <a:solidFill>
            <a:srgbClr val="0E0B09"/>
          </a:solidFill>
          <a:ln w="6350">
            <a:solidFill>
              <a:srgbClr val="3D3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>
                <a:solidFill>
                  <a:srgbClr val="E8DFD6"/>
                </a:solidFill>
                <a:latin typeface="Plus Jakarta Sans"/>
              </a:rPr>
              <a:t>/admin/* · /runbooks
/bookmarks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17736" y="2624328"/>
            <a:ext cx="2011680" cy="640080"/>
          </a:xfrm>
          <a:prstGeom prst="roundRect">
            <a:avLst/>
          </a:prstGeom>
          <a:solidFill>
            <a:srgbClr val="0E0B09"/>
          </a:solidFill>
          <a:ln w="6350">
            <a:solidFill>
              <a:srgbClr val="3D3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>
                <a:solidFill>
                  <a:srgbClr val="E8DFD6"/>
                </a:solidFill>
                <a:latin typeface="Plus Jakarta Sans"/>
              </a:rPr>
              <a:t>Middleware
SlowAPI · CORS · JWT · Cache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88920" y="3721608"/>
            <a:ext cx="2011680" cy="640080"/>
          </a:xfrm>
          <a:prstGeom prst="roundRect">
            <a:avLst/>
          </a:prstGeom>
          <a:solidFill>
            <a:srgbClr val="0E0B09"/>
          </a:solidFill>
          <a:ln w="6350">
            <a:solidFill>
              <a:srgbClr val="3D3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>
                <a:solidFill>
                  <a:srgbClr val="E8DFD6"/>
                </a:solidFill>
                <a:latin typeface="Plus Jakarta Sans"/>
              </a:rPr>
              <a:t>RAG Pipeline
rag/pipeline.py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65192" y="3721608"/>
            <a:ext cx="2011680" cy="640080"/>
          </a:xfrm>
          <a:prstGeom prst="roundRect">
            <a:avLst/>
          </a:prstGeom>
          <a:solidFill>
            <a:srgbClr val="0E0B09"/>
          </a:solidFill>
          <a:ln w="6350">
            <a:solidFill>
              <a:srgbClr val="3D3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>
                <a:solidFill>
                  <a:srgbClr val="E8DFD6"/>
                </a:solidFill>
                <a:latin typeface="Plus Jakarta Sans"/>
              </a:rPr>
              <a:t>Modes Pack
rag/modes.py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41464" y="3721608"/>
            <a:ext cx="2011680" cy="640080"/>
          </a:xfrm>
          <a:prstGeom prst="roundRect">
            <a:avLst/>
          </a:prstGeom>
          <a:solidFill>
            <a:srgbClr val="0E0B09"/>
          </a:solidFill>
          <a:ln w="6350">
            <a:solidFill>
              <a:srgbClr val="3D3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>
                <a:solidFill>
                  <a:srgbClr val="E8DFD6"/>
                </a:solidFill>
                <a:latin typeface="Plus Jakarta Sans"/>
              </a:rPr>
              <a:t>Retrieval
FAISS · BM25 · Reranker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17736" y="3721608"/>
            <a:ext cx="2011680" cy="640080"/>
          </a:xfrm>
          <a:prstGeom prst="roundRect">
            <a:avLst/>
          </a:prstGeom>
          <a:solidFill>
            <a:srgbClr val="0E0B09"/>
          </a:solidFill>
          <a:ln w="6350">
            <a:solidFill>
              <a:srgbClr val="3D3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>
                <a:solidFill>
                  <a:srgbClr val="E8DFD6"/>
                </a:solidFill>
                <a:latin typeface="Plus Jakarta Sans"/>
              </a:rPr>
              <a:t>Ingestion
parser · chunker · indexer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88920" y="4818888"/>
            <a:ext cx="2011680" cy="640080"/>
          </a:xfrm>
          <a:prstGeom prst="roundRect">
            <a:avLst/>
          </a:prstGeom>
          <a:solidFill>
            <a:srgbClr val="0E0B09"/>
          </a:solidFill>
          <a:ln w="6350">
            <a:solidFill>
              <a:srgbClr val="3D3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>
                <a:solidFill>
                  <a:srgbClr val="E8DFD6"/>
                </a:solidFill>
                <a:latin typeface="Plus Jakarta Sans"/>
              </a:rPr>
              <a:t>Supabase
PostgreSQL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65192" y="4818888"/>
            <a:ext cx="2011680" cy="640080"/>
          </a:xfrm>
          <a:prstGeom prst="roundRect">
            <a:avLst/>
          </a:prstGeom>
          <a:solidFill>
            <a:srgbClr val="0E0B09"/>
          </a:solidFill>
          <a:ln w="6350">
            <a:solidFill>
              <a:srgbClr val="3D3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>
                <a:solidFill>
                  <a:srgbClr val="E8DFD6"/>
                </a:solidFill>
                <a:latin typeface="Plus Jakarta Sans"/>
              </a:rPr>
              <a:t>FAISS index.bin
+ metadata.json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41464" y="4818888"/>
            <a:ext cx="2011680" cy="640080"/>
          </a:xfrm>
          <a:prstGeom prst="roundRect">
            <a:avLst/>
          </a:prstGeom>
          <a:solidFill>
            <a:srgbClr val="0E0B09"/>
          </a:solidFill>
          <a:ln w="6350">
            <a:solidFill>
              <a:srgbClr val="3D3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>
                <a:solidFill>
                  <a:srgbClr val="E8DFD6"/>
                </a:solidFill>
                <a:latin typeface="Plus Jakarta Sans"/>
              </a:rPr>
              <a:t>Firebase Auth
OAuth + JWT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17736" y="4818888"/>
            <a:ext cx="2011680" cy="640080"/>
          </a:xfrm>
          <a:prstGeom prst="roundRect">
            <a:avLst/>
          </a:prstGeom>
          <a:solidFill>
            <a:srgbClr val="0E0B09"/>
          </a:solidFill>
          <a:ln w="6350">
            <a:solidFill>
              <a:srgbClr val="3D3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>
                <a:solidFill>
                  <a:srgbClr val="E8DFD6"/>
                </a:solidFill>
                <a:latin typeface="Plus Jakarta Sans"/>
              </a:rPr>
              <a:t>Gemini API
+ Hugging Face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3794760" y="2167128"/>
            <a:ext cx="4352544" cy="45720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794760" y="3264408"/>
            <a:ext cx="4352544" cy="45720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3794760" y="4361688"/>
            <a:ext cx="4352544" cy="45720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7200" y="5806440"/>
            <a:ext cx="11292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>
                <a:solidFill>
                  <a:srgbClr val="9C8B80"/>
                </a:solidFill>
                <a:latin typeface="Plus Jakarta Sans"/>
              </a:rPr>
              <a:t>Client · API · Service · Data — clean separation; only the API layer holds JWT verify and rate-limit.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3D3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6D5F57"/>
                </a:solidFill>
                <a:latin typeface="Plus Jakarta Sans"/>
              </a:rPr>
              <a:t>ResolveIT AI · Smart Runbook Resolution Assistant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B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D9770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Plus Jakarta Sans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8DFD6"/>
                </a:solidFill>
                <a:latin typeface="Plus Jakarta Sans"/>
              </a:rPr>
              <a:t>Full RAG Pipeline — Query → Cited Answer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78992"/>
            <a:ext cx="182880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4114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9C8B80"/>
                </a:solidFill>
                <a:latin typeface="Plus Jakarta Sans"/>
              </a:rPr>
              <a:t>6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417320" cy="713232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 b="1">
                <a:solidFill>
                  <a:srgbClr val="E8DFD6"/>
                </a:solidFill>
                <a:latin typeface="Plus Jakarta Sans"/>
              </a:rPr>
              <a:t>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0824" y="1508760"/>
            <a:ext cx="1417320" cy="713232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 b="1">
                <a:solidFill>
                  <a:srgbClr val="E8DFD6"/>
                </a:solidFill>
                <a:latin typeface="Plus Jakarta Sans"/>
              </a:rPr>
              <a:t>Auth +
Mode Lookup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448" y="1508760"/>
            <a:ext cx="1417320" cy="713232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 b="1">
                <a:solidFill>
                  <a:srgbClr val="E8DFD6"/>
                </a:solidFill>
                <a:latin typeface="Plus Jakarta Sans"/>
              </a:rPr>
              <a:t>Cache Check
(mode-keyed)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8072" y="1508760"/>
            <a:ext cx="1417320" cy="713232"/>
          </a:xfrm>
          <a:prstGeom prst="roundRect">
            <a:avLst/>
          </a:prstGeom>
          <a:solidFill>
            <a:srgbClr val="1A151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 b="1">
                <a:solidFill>
                  <a:srgbClr val="FBBF24"/>
                </a:solidFill>
                <a:latin typeface="Plus Jakarta Sans"/>
              </a:rPr>
              <a:t>HyDE Expand
(Gemini)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11696" y="1508760"/>
            <a:ext cx="1417320" cy="713232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 b="1">
                <a:solidFill>
                  <a:srgbClr val="E8DFD6"/>
                </a:solidFill>
                <a:latin typeface="Plus Jakarta Sans"/>
              </a:rPr>
              <a:t>Embed
BGE-small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08760"/>
            <a:ext cx="1417320" cy="713232"/>
          </a:xfrm>
          <a:prstGeom prst="roundRect">
            <a:avLst/>
          </a:prstGeom>
          <a:solidFill>
            <a:srgbClr val="1A151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 b="1">
                <a:solidFill>
                  <a:srgbClr val="FBBF24"/>
                </a:solidFill>
                <a:latin typeface="Plus Jakarta Sans"/>
              </a:rPr>
              <a:t>Hybrid
FAISS+BM25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38944" y="1508760"/>
            <a:ext cx="1417320" cy="713232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 b="1">
                <a:solidFill>
                  <a:srgbClr val="E8DFD6"/>
                </a:solidFill>
                <a:latin typeface="Plus Jakarta Sans"/>
              </a:rPr>
              <a:t>RRF Fuse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74520" y="1865376"/>
            <a:ext cx="146304" cy="0"/>
          </a:xfrm>
          <a:prstGeom prst="line">
            <a:avLst/>
          </a:prstGeom>
          <a:ln w="15875">
            <a:solidFill>
              <a:srgbClr val="F59E0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438144" y="1865376"/>
            <a:ext cx="146304" cy="0"/>
          </a:xfrm>
          <a:prstGeom prst="line">
            <a:avLst/>
          </a:prstGeom>
          <a:ln w="15875">
            <a:solidFill>
              <a:srgbClr val="F59E0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01768" y="1865376"/>
            <a:ext cx="146304" cy="0"/>
          </a:xfrm>
          <a:prstGeom prst="line">
            <a:avLst/>
          </a:prstGeom>
          <a:ln w="15875">
            <a:solidFill>
              <a:srgbClr val="F59E0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65392" y="1865376"/>
            <a:ext cx="146304" cy="0"/>
          </a:xfrm>
          <a:prstGeom prst="line">
            <a:avLst/>
          </a:prstGeom>
          <a:ln w="15875">
            <a:solidFill>
              <a:srgbClr val="F59E0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29016" y="1865376"/>
            <a:ext cx="146304" cy="0"/>
          </a:xfrm>
          <a:prstGeom prst="line">
            <a:avLst/>
          </a:prstGeom>
          <a:ln w="15875">
            <a:solidFill>
              <a:srgbClr val="F59E0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92640" y="1865376"/>
            <a:ext cx="146304" cy="0"/>
          </a:xfrm>
          <a:prstGeom prst="line">
            <a:avLst/>
          </a:prstGeom>
          <a:ln w="15875">
            <a:solidFill>
              <a:srgbClr val="F59E0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" y="3246120"/>
            <a:ext cx="1417320" cy="713232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 b="1">
                <a:solidFill>
                  <a:srgbClr val="E8DFD6"/>
                </a:solidFill>
                <a:latin typeface="Plus Jakarta Sans"/>
              </a:rPr>
              <a:t>Scope Filter
admin · mine · both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20824" y="3246120"/>
            <a:ext cx="1417320" cy="713232"/>
          </a:xfrm>
          <a:prstGeom prst="roundRect">
            <a:avLst/>
          </a:prstGeom>
          <a:solidFill>
            <a:srgbClr val="1A151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 b="1">
                <a:solidFill>
                  <a:srgbClr val="FBBF24"/>
                </a:solidFill>
                <a:latin typeface="Plus Jakarta Sans"/>
              </a:rPr>
              <a:t>Re-rank
Cross-Encoder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84448" y="3246120"/>
            <a:ext cx="1417320" cy="713232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 b="1">
                <a:solidFill>
                  <a:srgbClr val="E8DFD6"/>
                </a:solidFill>
                <a:latin typeface="Plus Jakarta Sans"/>
              </a:rPr>
              <a:t>Gate
(score ≥ 0.25)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48072" y="3246120"/>
            <a:ext cx="1417320" cy="713232"/>
          </a:xfrm>
          <a:prstGeom prst="roundRect">
            <a:avLst/>
          </a:prstGeom>
          <a:solidFill>
            <a:srgbClr val="1A151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 b="1">
                <a:solidFill>
                  <a:srgbClr val="FBBF24"/>
                </a:solidFill>
                <a:latin typeface="Plus Jakarta Sans"/>
              </a:rPr>
              <a:t>Gemini
stream tokens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11696" y="3246120"/>
            <a:ext cx="1417320" cy="713232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 b="1">
                <a:solidFill>
                  <a:srgbClr val="E8DFD6"/>
                </a:solidFill>
                <a:latin typeface="Plus Jakarta Sans"/>
              </a:rPr>
              <a:t>Follow-ups
(Gemini × 3)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246120"/>
            <a:ext cx="1417320" cy="713232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 b="1">
                <a:solidFill>
                  <a:srgbClr val="E8DFD6"/>
                </a:solidFill>
                <a:latin typeface="Plus Jakarta Sans"/>
              </a:rPr>
              <a:t>Log + Cache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38944" y="3246120"/>
            <a:ext cx="1417320" cy="713232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sz="950" b="1">
                <a:solidFill>
                  <a:srgbClr val="E8DFD6"/>
                </a:solidFill>
                <a:latin typeface="Plus Jakarta Sans"/>
              </a:rPr>
              <a:t>SSE 'done'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74520" y="3602736"/>
            <a:ext cx="146304" cy="0"/>
          </a:xfrm>
          <a:prstGeom prst="line">
            <a:avLst/>
          </a:prstGeom>
          <a:ln w="15875">
            <a:solidFill>
              <a:srgbClr val="F59E0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438144" y="3602736"/>
            <a:ext cx="146304" cy="0"/>
          </a:xfrm>
          <a:prstGeom prst="line">
            <a:avLst/>
          </a:prstGeom>
          <a:ln w="15875">
            <a:solidFill>
              <a:srgbClr val="F59E0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01768" y="3602736"/>
            <a:ext cx="146304" cy="0"/>
          </a:xfrm>
          <a:prstGeom prst="line">
            <a:avLst/>
          </a:prstGeom>
          <a:ln w="15875">
            <a:solidFill>
              <a:srgbClr val="F59E0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565392" y="3602736"/>
            <a:ext cx="146304" cy="0"/>
          </a:xfrm>
          <a:prstGeom prst="line">
            <a:avLst/>
          </a:prstGeom>
          <a:ln w="15875">
            <a:solidFill>
              <a:srgbClr val="F59E0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29016" y="3602736"/>
            <a:ext cx="146304" cy="0"/>
          </a:xfrm>
          <a:prstGeom prst="line">
            <a:avLst/>
          </a:prstGeom>
          <a:ln w="15875">
            <a:solidFill>
              <a:srgbClr val="F59E0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92640" y="3602736"/>
            <a:ext cx="146304" cy="0"/>
          </a:xfrm>
          <a:prstGeom prst="line">
            <a:avLst/>
          </a:prstGeom>
          <a:ln w="15875">
            <a:solidFill>
              <a:srgbClr val="F59E0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547604" y="2221992"/>
            <a:ext cx="0" cy="512064"/>
          </a:xfrm>
          <a:prstGeom prst="line">
            <a:avLst/>
          </a:prstGeom>
          <a:ln w="158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165860" y="2734056"/>
            <a:ext cx="9381744" cy="0"/>
          </a:xfrm>
          <a:prstGeom prst="line">
            <a:avLst/>
          </a:prstGeom>
          <a:ln w="15875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65860" y="2734056"/>
            <a:ext cx="0" cy="512064"/>
          </a:xfrm>
          <a:prstGeom prst="line">
            <a:avLst/>
          </a:prstGeom>
          <a:ln w="15875">
            <a:solidFill>
              <a:srgbClr val="F59E0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57200" y="4572000"/>
            <a:ext cx="11292840" cy="16916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46817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Plus Jakarta Sans"/>
              </a:rPr>
              <a:t>Mode controls these knobs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074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JetBrains Mono"/>
              </a:rPr>
              <a:t>use_hyde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349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9C8B80"/>
                </a:solidFill>
                <a:latin typeface="Plus Jakarta Sans"/>
              </a:rPr>
              <a:t>Skip in Fast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5074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JetBrains Mono"/>
              </a:rPr>
              <a:t>top_k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5349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9C8B80"/>
                </a:solidFill>
                <a:latin typeface="Plus Jakarta Sans"/>
              </a:rPr>
              <a:t>6 / 12 / 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5074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JetBrains Mono"/>
              </a:rPr>
              <a:t>top_n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5349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9C8B80"/>
                </a:solidFill>
                <a:latin typeface="Plus Jakarta Sans"/>
              </a:rPr>
              <a:t>3 / 5 / 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074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JetBrains Mono"/>
              </a:rPr>
              <a:t>temperature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5349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9C8B80"/>
                </a:solidFill>
                <a:latin typeface="Plus Jakarta Sans"/>
              </a:rPr>
              <a:t>0.0–0.3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80" y="5074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JetBrains Mono"/>
              </a:rPr>
              <a:t>system_prompt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0" y="5349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9C8B80"/>
                </a:solidFill>
                <a:latin typeface="Plus Jakarta Sans"/>
              </a:rPr>
              <a:t>per-mode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5074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JetBrains Mono"/>
              </a:rPr>
              <a:t>critique_retry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5349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9C8B80"/>
                </a:solidFill>
                <a:latin typeface="Plus Jakarta Sans"/>
              </a:rPr>
              <a:t>Deep only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7607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9C8B80"/>
                </a:solidFill>
                <a:latin typeface="JetBrains Mono"/>
              </a:rPr>
              <a:t>SSE events:  mode  →  sources  →  token (× N)  →  done {query_log_id, top_confidence, mode, follow_ups}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3D3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6D5F57"/>
                </a:solidFill>
                <a:latin typeface="Plus Jakarta Sans"/>
              </a:rPr>
              <a:t>ResolveIT AI · Smart Runbook Resolution Assistant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B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Plus Jakarta Sans"/>
              </a:rPr>
              <a:t>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8DFD6"/>
                </a:solidFill>
                <a:latin typeface="Plus Jakarta Sans"/>
              </a:rPr>
              <a:t>Six Response Modes — One Pipeline, Six Audiences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78992"/>
            <a:ext cx="182880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4114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9C8B80"/>
                </a:solidFill>
                <a:latin typeface="Plus Jakarta Sans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9C8B80"/>
                </a:solidFill>
                <a:latin typeface="Plus Jakarta Sans"/>
              </a:rPr>
              <a:t>Each mode bundles a retrieval-config + a system prompt. Cache key includes mode → independent caching per mode.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657600" cy="19202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657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94767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Plus Jakarta Sans"/>
              </a:rPr>
              <a:t>Fast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8DFD6"/>
                </a:solidFill>
                <a:latin typeface="JetBrains Mono"/>
              </a:rPr>
              <a:t>OFF · top_k 6 · top_n 3 · 0.0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9C8B80"/>
                </a:solidFill>
                <a:latin typeface="Plus Jakarta Sans"/>
              </a:rPr>
              <a:t>2 AM incident — terse, ~1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783080"/>
            <a:ext cx="3657600" cy="19202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79392" y="1783080"/>
            <a:ext cx="3657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2272" y="194767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  <a:latin typeface="Plus Jakarta Sans"/>
              </a:rPr>
              <a:t>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560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8DFD6"/>
                </a:solidFill>
                <a:latin typeface="JetBrains Mono"/>
              </a:rPr>
              <a:t>ON · top_k 12 · top_n 5 · 0.2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92608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9C8B80"/>
                </a:solidFill>
                <a:latin typeface="Plus Jakarta Sans"/>
              </a:rPr>
              <a:t>Default — Summary + Steps + Prevention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1783080"/>
            <a:ext cx="3657600" cy="19202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4" y="1783080"/>
            <a:ext cx="36576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84464" y="194767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  <a:latin typeface="Plus Jakarta Sans"/>
              </a:rPr>
              <a:t>Deep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560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8DFD6"/>
                </a:solidFill>
                <a:latin typeface="JetBrains Mono"/>
              </a:rPr>
              <a:t>ON · top_k 20 · top_n 8 · 0.2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92608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9C8B80"/>
                </a:solidFill>
                <a:latin typeface="Plus Jakarta Sans"/>
              </a:rPr>
              <a:t>Tricky bug — Root Cause + Verification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86200"/>
            <a:ext cx="3657600" cy="19202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886200"/>
            <a:ext cx="365760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05079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  <a:latin typeface="Plus Jakarta Sans"/>
              </a:rPr>
              <a:t>ELI5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8DFD6"/>
                </a:solidFill>
                <a:latin typeface="JetBrains Mono"/>
              </a:rPr>
              <a:t>ON · top_k 12 · top_n 5 · 0.3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2920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9C8B80"/>
                </a:solidFill>
                <a:latin typeface="Plus Jakarta Sans"/>
              </a:rPr>
              <a:t>Junior tech — explains jargon + commands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9392" y="3886200"/>
            <a:ext cx="3657600" cy="19202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79392" y="3886200"/>
            <a:ext cx="36576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62272" y="405079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EF4444"/>
                </a:solidFill>
                <a:latin typeface="Plus Jakarta Sans"/>
              </a:rPr>
              <a:t>Expert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46634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8DFD6"/>
                </a:solidFill>
                <a:latin typeface="JetBrains Mono"/>
              </a:rPr>
              <a:t>ON · top_k 12 · top_n 5 · 0.1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502920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9C8B80"/>
                </a:solidFill>
                <a:latin typeface="Plus Jakarta Sans"/>
              </a:rPr>
              <a:t>Senior SRE — TL;DR + command-only steps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4" y="3886200"/>
            <a:ext cx="3657600" cy="192024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01584" y="3886200"/>
            <a:ext cx="36576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84464" y="405079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Plus Jakarta Sans"/>
              </a:rPr>
              <a:t>Dry-run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4" y="46634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8DFD6"/>
                </a:solidFill>
                <a:latin typeface="JetBrains Mono"/>
              </a:rPr>
              <a:t>ON · top_k 12 · top_n 5 · 0.1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502920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9C8B80"/>
                </a:solidFill>
                <a:latin typeface="Plus Jakarta Sans"/>
              </a:rPr>
              <a:t>Before destructive ops — annotated + Rollback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3D3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6D5F57"/>
                </a:solidFill>
                <a:latin typeface="Plus Jakarta Sans"/>
              </a:rPr>
              <a:t>ResolveIT AI · Smart Runbook Resolution Assistant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B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Plus Jakarta Sans"/>
              </a:rPr>
              <a:t>BEYOND VANILLA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8DFD6"/>
                </a:solidFill>
                <a:latin typeface="Plus Jakarta Sans"/>
              </a:rPr>
              <a:t>What Makes ResolveIT AI Different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78992"/>
            <a:ext cx="182880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4114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9C8B80"/>
                </a:solidFill>
                <a:latin typeface="Plus Jakarta Sans"/>
              </a:rPr>
              <a:t>8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2697480" cy="128016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ctr"/>
          <a:lstStyle/>
          <a:p>
            <a:pPr algn="ctr"/>
            <a:r>
              <a:rPr sz="1300" b="1">
                <a:solidFill>
                  <a:srgbClr val="E8DFD6"/>
                </a:solidFill>
                <a:latin typeface="Plus Jakarta Sans"/>
              </a:rPr>
              <a:t>Regenerate in Any Mode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9C8B80"/>
                </a:solidFill>
                <a:latin typeface="Plus Jakarta Sans"/>
              </a:rPr>
              <a:t>Re-run the same query in another mode; new log row carries regenerate_of FK.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37560" y="1325880"/>
            <a:ext cx="2697480" cy="128016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ctr"/>
          <a:lstStyle/>
          <a:p>
            <a:pPr algn="ctr"/>
            <a:r>
              <a:rPr sz="1300" b="1">
                <a:solidFill>
                  <a:srgbClr val="E8DFD6"/>
                </a:solidFill>
                <a:latin typeface="Plus Jakarta Sans"/>
              </a:rPr>
              <a:t>Follow-up Question Chips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9C8B80"/>
                </a:solidFill>
                <a:latin typeface="Plus Jakarta Sans"/>
              </a:rPr>
              <a:t>Gemini proposes 3 short next questions; clicking opens a threaded continuation.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325880"/>
            <a:ext cx="54864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2697480" cy="128016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ctr"/>
          <a:lstStyle/>
          <a:p>
            <a:pPr algn="ctr"/>
            <a:r>
              <a:rPr sz="1300" b="1">
                <a:solidFill>
                  <a:srgbClr val="E8DFD6"/>
                </a:solidFill>
                <a:latin typeface="Plus Jakarta Sans"/>
              </a:rPr>
              <a:t>Markdown Export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9C8B80"/>
                </a:solidFill>
                <a:latin typeface="Plus Jakarta Sans"/>
              </a:rPr>
              <a:t>GET /export/{id}.md downloads a portable file with title, mode, confidence, sources.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4864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98280" y="1325880"/>
            <a:ext cx="2697480" cy="128016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ctr"/>
          <a:lstStyle/>
          <a:p>
            <a:pPr algn="ctr"/>
            <a:r>
              <a:rPr sz="1300" b="1">
                <a:solidFill>
                  <a:srgbClr val="E8DFD6"/>
                </a:solidFill>
                <a:latin typeface="Plus Jakarta Sans"/>
              </a:rPr>
              <a:t>Citation Gate-Check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9C8B80"/>
                </a:solidFill>
                <a:latin typeface="Plus Jakarta Sans"/>
              </a:rPr>
              <a:t>If no excerpt directly addresses the query, an escalation sentinel is returned.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1325880"/>
            <a:ext cx="54864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7200" y="2788920"/>
            <a:ext cx="2697480" cy="128016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ctr"/>
          <a:lstStyle/>
          <a:p>
            <a:pPr algn="ctr"/>
            <a:r>
              <a:rPr sz="1300" b="1">
                <a:solidFill>
                  <a:srgbClr val="E8DFD6"/>
                </a:solidFill>
                <a:latin typeface="Plus Jakarta Sans"/>
              </a:rPr>
              <a:t>Threaded Conversations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9C8B80"/>
                </a:solidFill>
                <a:latin typeface="Plus Jakarta Sans"/>
              </a:rPr>
              <a:t>thread_id links continuation queries; /history groups by thread; Resume re-seeds chat.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54864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37560" y="2788920"/>
            <a:ext cx="2697480" cy="128016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ctr"/>
          <a:lstStyle/>
          <a:p>
            <a:pPr algn="ctr"/>
            <a:r>
              <a:rPr sz="1300" b="1">
                <a:solidFill>
                  <a:srgbClr val="E8DFD6"/>
                </a:solidFill>
                <a:latin typeface="Plus Jakarta Sans"/>
              </a:rPr>
              <a:t>Bookmarks (Playbook)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9C8B80"/>
                </a:solidFill>
                <a:latin typeface="Plus Jakarta Sans"/>
              </a:rPr>
              <a:t>Per-user saved answers with snippet + sources, paginated.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2788920"/>
            <a:ext cx="54864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17920" y="2788920"/>
            <a:ext cx="2697480" cy="128016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ctr"/>
          <a:lstStyle/>
          <a:p>
            <a:pPr algn="ctr"/>
            <a:r>
              <a:rPr sz="1300" b="1">
                <a:solidFill>
                  <a:srgbClr val="E8DFD6"/>
                </a:solidFill>
                <a:latin typeface="Plus Jakarta Sans"/>
              </a:rPr>
              <a:t>Shareable Permalinks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9C8B80"/>
                </a:solidFill>
                <a:latin typeface="Plus Jakarta Sans"/>
              </a:rPr>
              <a:t>/answer/:id renders a read-only view of any logged answer.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788920"/>
            <a:ext cx="54864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98280" y="2788920"/>
            <a:ext cx="2697480" cy="128016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ctr"/>
          <a:lstStyle/>
          <a:p>
            <a:pPr algn="ctr"/>
            <a:r>
              <a:rPr sz="1300" b="1">
                <a:solidFill>
                  <a:srgbClr val="E8DFD6"/>
                </a:solidFill>
                <a:latin typeface="Plus Jakarta Sans"/>
              </a:rPr>
              <a:t>Admin Knowledge Gaps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9C8B80"/>
                </a:solidFill>
                <a:latin typeface="Plus Jakarta Sans"/>
              </a:rPr>
              <a:t>Surfaces low-confidence and negative-feedback queries grouped by topic.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2788920"/>
            <a:ext cx="54864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7200" y="4251960"/>
            <a:ext cx="2697480" cy="128016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ctr"/>
          <a:lstStyle/>
          <a:p>
            <a:pPr algn="ctr"/>
            <a:r>
              <a:rPr sz="1300" b="1">
                <a:solidFill>
                  <a:srgbClr val="E8DFD6"/>
                </a:solidFill>
                <a:latin typeface="Plus Jakarta Sans"/>
              </a:rPr>
              <a:t>Runbook Health Grid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9C8B80"/>
                </a:solidFill>
                <a:latin typeface="Plus Jakarta Sans"/>
              </a:rPr>
              <a:t>Per-runbook query count, average confidence, thumbs ratio, Needs-Attention flag.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51960"/>
            <a:ext cx="54864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337560" y="4251960"/>
            <a:ext cx="2697480" cy="128016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ctr"/>
          <a:lstStyle/>
          <a:p>
            <a:pPr algn="ctr"/>
            <a:r>
              <a:rPr sz="1300" b="1">
                <a:solidFill>
                  <a:srgbClr val="E8DFD6"/>
                </a:solidFill>
                <a:latin typeface="Plus Jakarta Sans"/>
              </a:rPr>
              <a:t>Streaming with Abort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9C8B80"/>
                </a:solidFill>
                <a:latin typeface="Plus Jakarta Sans"/>
              </a:rPr>
              <a:t>useQuery uses AbortController so a new query cancels in-flight stream cleanly.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4251960"/>
            <a:ext cx="54864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17920" y="4251960"/>
            <a:ext cx="2697480" cy="128016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ctr"/>
          <a:lstStyle/>
          <a:p>
            <a:pPr algn="ctr"/>
            <a:r>
              <a:rPr sz="1300" b="1">
                <a:solidFill>
                  <a:srgbClr val="E8DFD6"/>
                </a:solidFill>
                <a:latin typeface="Plus Jakarta Sans"/>
              </a:rPr>
              <a:t>Per-Mode TTL Cache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9C8B80"/>
                </a:solidFill>
                <a:latin typeface="Plus Jakarta Sans"/>
              </a:rPr>
              <a:t>Same query in different modes is cached independently (sha256 of mode:scope:user:query).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251960"/>
            <a:ext cx="54864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098280" y="4251960"/>
            <a:ext cx="2697480" cy="128016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bIns="109728" rtlCol="0" anchor="ctr"/>
          <a:lstStyle/>
          <a:p>
            <a:pPr algn="ctr"/>
            <a:r>
              <a:rPr sz="1300" b="1">
                <a:solidFill>
                  <a:srgbClr val="E8DFD6"/>
                </a:solidFill>
                <a:latin typeface="Plus Jakarta Sans"/>
              </a:rPr>
              <a:t>Cmd+K Command Palette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9C8B80"/>
                </a:solidFill>
                <a:latin typeface="Plus Jakarta Sans"/>
              </a:rPr>
              <a:t>Keyboard-driven nav with grouped suggestions / navigation / actions.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4251960"/>
            <a:ext cx="54864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3D3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6D5F57"/>
                </a:solidFill>
                <a:latin typeface="Plus Jakarta Sans"/>
              </a:rPr>
              <a:t>ResolveIT AI · Smart Runbook Resolution Assistant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B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Plus Jakarta Sans"/>
              </a:rPr>
              <a:t>SCHEMA ·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8DFD6"/>
                </a:solidFill>
                <a:latin typeface="Plus Jakarta Sans"/>
              </a:rPr>
              <a:t>Database Schema &amp; API Surface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78992"/>
            <a:ext cx="182880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4114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9C8B80"/>
                </a:solidFill>
                <a:latin typeface="Plus Jakarta Sans"/>
              </a:rPr>
              <a:t>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0770" y="1280160"/>
            <a:ext cx="5989320" cy="507492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Plus Jakarta Sans"/>
              </a:rPr>
              <a:t>Supabase Tables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5349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E0B09"/>
                          </a:solidFill>
                          <a:latin typeface="Plus Jakarta Sans"/>
                        </a:rPr>
                        <a:t>Table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E0B09"/>
                          </a:solidFill>
                          <a:latin typeface="Plus Jakarta Sans"/>
                        </a:rPr>
                        <a:t>Key Columns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runbooks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id · filename · category · file_type · uploaded_by · content_hash · is_admin_runbook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query_logs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id · user_id · query_text · sources · llm_response · confidence · thread_id · mode · regenerate_of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feedback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id · query_log_id · user_id · rating (1/-1) · comment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bookmarks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E8DFD6"/>
                          </a:solidFill>
                          <a:latin typeface="Plus Jakarta Sans"/>
                        </a:rPr>
                        <a:t>id · </a:t>
                      </a:r>
                      <a:r>
                        <a:rPr sz="1000" dirty="0" err="1">
                          <a:solidFill>
                            <a:srgbClr val="E8DFD6"/>
                          </a:solidFill>
                          <a:latin typeface="Plus Jakarta Sans"/>
                        </a:rPr>
                        <a:t>user_id</a:t>
                      </a:r>
                      <a:r>
                        <a:rPr sz="1000" dirty="0">
                          <a:solidFill>
                            <a:srgbClr val="E8DFD6"/>
                          </a:solidFill>
                          <a:latin typeface="Plus Jakarta Sans"/>
                        </a:rPr>
                        <a:t> · </a:t>
                      </a:r>
                      <a:r>
                        <a:rPr sz="1000" dirty="0" err="1">
                          <a:solidFill>
                            <a:srgbClr val="E8DFD6"/>
                          </a:solidFill>
                          <a:latin typeface="Plus Jakarta Sans"/>
                        </a:rPr>
                        <a:t>query_log_id</a:t>
                      </a:r>
                      <a:r>
                        <a:rPr sz="1000" dirty="0">
                          <a:solidFill>
                            <a:srgbClr val="E8DFD6"/>
                          </a:solidFill>
                          <a:latin typeface="Plus Jakarta Sans"/>
                        </a:rPr>
                        <a:t> · </a:t>
                      </a:r>
                      <a:r>
                        <a:rPr sz="1000" dirty="0" err="1">
                          <a:solidFill>
                            <a:srgbClr val="E8DFD6"/>
                          </a:solidFill>
                          <a:latin typeface="Plus Jakarta Sans"/>
                        </a:rPr>
                        <a:t>query_text</a:t>
                      </a:r>
                      <a:r>
                        <a:rPr sz="1000" dirty="0">
                          <a:solidFill>
                            <a:srgbClr val="E8DFD6"/>
                          </a:solidFill>
                          <a:latin typeface="Plus Jakarta Sans"/>
                        </a:rPr>
                        <a:t> · </a:t>
                      </a:r>
                      <a:r>
                        <a:rPr sz="1000" dirty="0" err="1">
                          <a:solidFill>
                            <a:srgbClr val="E8DFD6"/>
                          </a:solidFill>
                          <a:latin typeface="Plus Jakarta Sans"/>
                        </a:rPr>
                        <a:t>answer_snippet</a:t>
                      </a:r>
                      <a:r>
                        <a:rPr sz="1000" dirty="0">
                          <a:solidFill>
                            <a:srgbClr val="E8DFD6"/>
                          </a:solidFill>
                          <a:latin typeface="Plus Jakarta Sans"/>
                        </a:rPr>
                        <a:t> · sources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1234440"/>
            <a:ext cx="5685670" cy="513893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Plus Jakarta Sans"/>
              </a:rPr>
              <a:t>Key API Routes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316202"/>
              </p:ext>
            </p:extLst>
          </p:nvPr>
        </p:nvGraphicFramePr>
        <p:xfrm>
          <a:off x="6366294" y="1828800"/>
          <a:ext cx="5292306" cy="4223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6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6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7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E0B09"/>
                          </a:solidFill>
                          <a:latin typeface="Plus Jakarta Sans"/>
                        </a:rPr>
                        <a:t>Method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E0B09"/>
                          </a:solidFill>
                          <a:latin typeface="Plus Jakarta Sans"/>
                        </a:rPr>
                        <a:t>Path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7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POST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/query  ·  /query/stream  (SSE)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7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GET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/answer/{id}        — permalink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7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GET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/export/{id}.md     — Markdown download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7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POST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/feedback           — thumbs + comment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7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GET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/history            — threaded log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7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POST · GET · DELETE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/bookmarks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7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POST · GET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/runbooks/upload · /runbooks/my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27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POST · GET · DELETE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/admin/upload · /admin/runbooks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15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GET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/admin/runbook-health · knowledge-gaps · feedback-stats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2730"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E8DFD6"/>
                          </a:solidFill>
                          <a:latin typeface="Plus Jakarta Sans"/>
                        </a:rPr>
                        <a:t>GET · POST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E8DFD6"/>
                          </a:solidFill>
                          <a:latin typeface="Plus Jakarta Sans"/>
                        </a:rPr>
                        <a:t>/auth/me · /auth/verify · /health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13" name="Connector 12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3D3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6D5F57"/>
                </a:solidFill>
                <a:latin typeface="Plus Jakarta Sans"/>
              </a:rPr>
              <a:t>ResolveIT AI · Smart Runbook Resolution Assistant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B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3657600"/>
            <a:ext cx="6400800" cy="6400800"/>
          </a:xfrm>
          <a:prstGeom prst="ellipse">
            <a:avLst/>
          </a:prstGeom>
          <a:solidFill>
            <a:srgbClr val="F59E0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Plus Jakarta Sans"/>
              </a:rP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E8DFD6"/>
                </a:solidFill>
                <a:latin typeface="Plus Jakarta Sans"/>
              </a:rPr>
              <a:t>Results, Roadmap &amp; Conclusion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78992"/>
            <a:ext cx="182880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4114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9C8B80"/>
                </a:solidFill>
                <a:latin typeface="Plus Jakarta Sans"/>
              </a:rPr>
              <a:t>10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3657600" cy="457200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90472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Plus Jakarta Sans"/>
              </a:rPr>
              <a:t>Benchmarks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965960"/>
          <a:ext cx="33375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E0B09"/>
                          </a:solidFill>
                          <a:latin typeface="Plus Jakarta Sans"/>
                        </a:rPr>
                        <a:t>Metric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E0B09"/>
                          </a:solidFill>
                          <a:latin typeface="Plus Jakarta Sans"/>
                        </a:rPr>
                        <a:t>Result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Fast — TTFT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&lt; 1 s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Standard — E2E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3 – 5 s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Deep — E2E (k=20)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5 – 9 s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Cache-hit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&lt; 50 ms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FAISS top-12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&lt; 10 ms</a:t>
                      </a:r>
                    </a:p>
                  </a:txBody>
                  <a:tcPr>
                    <a:solidFill>
                      <a:srgbClr val="1A15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Stream throughput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DFD6"/>
                          </a:solidFill>
                          <a:latin typeface="Plus Jakarta Sans"/>
                        </a:rPr>
                        <a:t>50 – 80 tok/s</a:t>
                      </a:r>
                    </a:p>
                  </a:txBody>
                  <a:tcPr>
                    <a:solidFill>
                      <a:srgbClr val="0E0B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279392" y="1325880"/>
            <a:ext cx="3657600" cy="457200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1490472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Plus Jakarta Sans"/>
              </a:rPr>
              <a:t>Future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96596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Plus Jakarta Sans"/>
              </a:rPr>
              <a:t>›  </a:t>
            </a:r>
            <a:r>
              <a:rPr sz="1100">
                <a:solidFill>
                  <a:srgbClr val="E8DFD6"/>
                </a:solidFill>
                <a:latin typeface="Plus Jakarta Sans"/>
              </a:rPr>
              <a:t>Workspaces + RBAC (replace email whitelist).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Plus Jakarta Sans"/>
              </a:rPr>
              <a:t>›  </a:t>
            </a:r>
            <a:r>
              <a:rPr sz="1100">
                <a:solidFill>
                  <a:srgbClr val="E8DFD6"/>
                </a:solidFill>
                <a:latin typeface="Plus Jakarta Sans"/>
              </a:rPr>
              <a:t>Compare / Diff mode (admin vs mine, A vs B).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Plus Jakarta Sans"/>
              </a:rPr>
              <a:t>›  </a:t>
            </a:r>
            <a:r>
              <a:rPr sz="1100">
                <a:solidFill>
                  <a:srgbClr val="E8DFD6"/>
                </a:solidFill>
                <a:latin typeface="Plus Jakarta Sans"/>
              </a:rPr>
              <a:t>URL · Confluence · Notion · GitHub sync.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Plus Jakarta Sans"/>
              </a:rPr>
              <a:t>›  </a:t>
            </a:r>
            <a:r>
              <a:rPr sz="1100">
                <a:solidFill>
                  <a:srgbClr val="E8DFD6"/>
                </a:solidFill>
                <a:latin typeface="Plus Jakarta Sans"/>
              </a:rPr>
              <a:t>OCR for scanned PDFs.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Plus Jakarta Sans"/>
              </a:rPr>
              <a:t>›  </a:t>
            </a:r>
            <a:r>
              <a:rPr sz="1100">
                <a:solidFill>
                  <a:srgbClr val="E8DFD6"/>
                </a:solidFill>
                <a:latin typeface="Plus Jakarta Sans"/>
              </a:rPr>
              <a:t>Citation faithfulness verifier (2nd pass).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Plus Jakarta Sans"/>
              </a:rPr>
              <a:t>›  </a:t>
            </a:r>
            <a:r>
              <a:rPr sz="1100">
                <a:solidFill>
                  <a:srgbClr val="E8DFD6"/>
                </a:solidFill>
                <a:latin typeface="Plus Jakarta Sans"/>
              </a:rPr>
              <a:t>Light/system theme · Settings page · PWA.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Plus Jakarta Sans"/>
              </a:rPr>
              <a:t>›  </a:t>
            </a:r>
            <a:r>
              <a:rPr sz="1100">
                <a:solidFill>
                  <a:srgbClr val="E8DFD6"/>
                </a:solidFill>
                <a:latin typeface="Plus Jakarta Sans"/>
              </a:rPr>
              <a:t>Eval harness (recall@5 · MRR · grounding).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325880"/>
            <a:ext cx="3657600" cy="4572000"/>
          </a:xfrm>
          <a:prstGeom prst="roundRect">
            <a:avLst/>
          </a:prstGeom>
          <a:solidFill>
            <a:srgbClr val="1A1510"/>
          </a:solidFill>
          <a:ln w="9525">
            <a:solidFill>
              <a:srgbClr val="2A2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4464" y="1490472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Plus Jakarta Sans"/>
              </a:rP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196596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0B981"/>
                </a:solidFill>
                <a:latin typeface="Plus Jakarta Sans"/>
              </a:rPr>
              <a:t>›  </a:t>
            </a:r>
            <a:r>
              <a:rPr sz="1100">
                <a:solidFill>
                  <a:srgbClr val="E8DFD6"/>
                </a:solidFill>
                <a:latin typeface="Plus Jakarta Sans"/>
              </a:rPr>
              <a:t>Citation-grounded RAG with strict gate-check.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10B981"/>
                </a:solidFill>
                <a:latin typeface="Plus Jakarta Sans"/>
              </a:rPr>
              <a:t>›  </a:t>
            </a:r>
            <a:r>
              <a:rPr sz="1100">
                <a:solidFill>
                  <a:srgbClr val="E8DFD6"/>
                </a:solidFill>
                <a:latin typeface="Plus Jakarta Sans"/>
              </a:rPr>
              <a:t>Six modes from one pipeline (~120 LoC).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10B981"/>
                </a:solidFill>
                <a:latin typeface="Plus Jakarta Sans"/>
              </a:rPr>
              <a:t>›  </a:t>
            </a:r>
            <a:r>
              <a:rPr sz="1100">
                <a:solidFill>
                  <a:srgbClr val="E8DFD6"/>
                </a:solidFill>
                <a:latin typeface="Plus Jakarta Sans"/>
              </a:rPr>
              <a:t>Hybrid retrieval: semantic + lexical + cross-encoder.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10B981"/>
                </a:solidFill>
                <a:latin typeface="Plus Jakarta Sans"/>
              </a:rPr>
              <a:t>›  </a:t>
            </a:r>
            <a:r>
              <a:rPr sz="1100">
                <a:solidFill>
                  <a:srgbClr val="E8DFD6"/>
                </a:solidFill>
                <a:latin typeface="Plus Jakarta Sans"/>
              </a:rPr>
              <a:t>Streaming UX with abort + threading.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10B981"/>
                </a:solidFill>
                <a:latin typeface="Plus Jakarta Sans"/>
              </a:rPr>
              <a:t>›  </a:t>
            </a:r>
            <a:r>
              <a:rPr sz="1100">
                <a:solidFill>
                  <a:srgbClr val="E8DFD6"/>
                </a:solidFill>
                <a:latin typeface="Plus Jakarta Sans"/>
              </a:rPr>
              <a:t>First-class artifacts: bookmark · share · export.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10B981"/>
                </a:solidFill>
                <a:latin typeface="Plus Jakarta Sans"/>
              </a:rPr>
              <a:t>›  </a:t>
            </a:r>
            <a:r>
              <a:rPr sz="1100">
                <a:solidFill>
                  <a:srgbClr val="E8DFD6"/>
                </a:solidFill>
                <a:latin typeface="Plus Jakarta Sans"/>
              </a:rPr>
              <a:t>Admin loop: knowledge gaps + runbook health.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10B981"/>
                </a:solidFill>
                <a:latin typeface="Plus Jakarta Sans"/>
              </a:rPr>
              <a:t>›  </a:t>
            </a:r>
            <a:r>
              <a:rPr sz="1100">
                <a:solidFill>
                  <a:srgbClr val="E8DFD6"/>
                </a:solidFill>
                <a:latin typeface="Plus Jakarta Sans"/>
              </a:rPr>
              <a:t>Modular: adding a mode is a dict entry.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3D33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6D5F57"/>
                </a:solidFill>
                <a:latin typeface="Plus Jakarta Sans"/>
              </a:rPr>
              <a:t>ResolveIT AI · Smart Runbook Resolution 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1634</Words>
  <Application>Microsoft Office PowerPoint</Application>
  <PresentationFormat>Widescreen</PresentationFormat>
  <Paragraphs>293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JetBrains Mono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ABHINAV TEJA</cp:lastModifiedBy>
  <cp:revision>4</cp:revision>
  <dcterms:created xsi:type="dcterms:W3CDTF">2013-01-27T09:14:16Z</dcterms:created>
  <dcterms:modified xsi:type="dcterms:W3CDTF">2026-05-04T18:40:24Z</dcterms:modified>
  <cp:category/>
</cp:coreProperties>
</file>